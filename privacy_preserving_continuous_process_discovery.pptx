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</p:sldMasterIdLst>
  <p:notesMasterIdLst>
    <p:notesMasterId r:id="rId45"/>
  </p:notesMasterIdLst>
  <p:handoutMasterIdLst>
    <p:handoutMasterId r:id="rId46"/>
  </p:handoutMasterIdLst>
  <p:sldIdLst>
    <p:sldId id="256" r:id="rId3"/>
    <p:sldId id="287" r:id="rId4"/>
    <p:sldId id="296" r:id="rId5"/>
    <p:sldId id="327" r:id="rId6"/>
    <p:sldId id="295" r:id="rId7"/>
    <p:sldId id="276" r:id="rId8"/>
    <p:sldId id="308" r:id="rId9"/>
    <p:sldId id="310" r:id="rId10"/>
    <p:sldId id="309" r:id="rId11"/>
    <p:sldId id="346" r:id="rId12"/>
    <p:sldId id="312" r:id="rId13"/>
    <p:sldId id="300" r:id="rId14"/>
    <p:sldId id="329" r:id="rId15"/>
    <p:sldId id="314" r:id="rId16"/>
    <p:sldId id="350" r:id="rId17"/>
    <p:sldId id="317" r:id="rId18"/>
    <p:sldId id="331" r:id="rId19"/>
    <p:sldId id="332" r:id="rId20"/>
    <p:sldId id="330" r:id="rId21"/>
    <p:sldId id="297" r:id="rId22"/>
    <p:sldId id="349" r:id="rId23"/>
    <p:sldId id="301" r:id="rId24"/>
    <p:sldId id="328" r:id="rId25"/>
    <p:sldId id="348" r:id="rId26"/>
    <p:sldId id="334" r:id="rId27"/>
    <p:sldId id="347" r:id="rId28"/>
    <p:sldId id="302" r:id="rId29"/>
    <p:sldId id="351" r:id="rId30"/>
    <p:sldId id="343" r:id="rId31"/>
    <p:sldId id="344" r:id="rId32"/>
    <p:sldId id="345" r:id="rId33"/>
    <p:sldId id="338" r:id="rId34"/>
    <p:sldId id="342" r:id="rId35"/>
    <p:sldId id="339" r:id="rId36"/>
    <p:sldId id="340" r:id="rId37"/>
    <p:sldId id="341" r:id="rId38"/>
    <p:sldId id="326" r:id="rId39"/>
    <p:sldId id="320" r:id="rId40"/>
    <p:sldId id="336" r:id="rId41"/>
    <p:sldId id="335" r:id="rId42"/>
    <p:sldId id="337" r:id="rId43"/>
    <p:sldId id="333" r:id="rId4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youtvorgaben" id="{DD2DFCEF-2E9A-4480-B679-985C63BC599A}">
          <p14:sldIdLst/>
        </p14:section>
        <p14:section name="Titelfolien Beispiele" id="{47A4B4CB-9BBE-4F9F-864A-8CEBC3A5A2DC}">
          <p14:sldIdLst>
            <p14:sldId id="256"/>
          </p14:sldIdLst>
        </p14:section>
        <p14:section name="Inhaltsfolien Beispiele" id="{812B3FE3-D71B-4EA9-B64B-DF3D6F727DCF}">
          <p14:sldIdLst>
            <p14:sldId id="287"/>
            <p14:sldId id="296"/>
            <p14:sldId id="327"/>
            <p14:sldId id="295"/>
            <p14:sldId id="276"/>
            <p14:sldId id="308"/>
            <p14:sldId id="310"/>
            <p14:sldId id="309"/>
            <p14:sldId id="346"/>
            <p14:sldId id="312"/>
            <p14:sldId id="300"/>
            <p14:sldId id="329"/>
            <p14:sldId id="314"/>
            <p14:sldId id="350"/>
            <p14:sldId id="317"/>
            <p14:sldId id="331"/>
            <p14:sldId id="332"/>
            <p14:sldId id="330"/>
            <p14:sldId id="297"/>
            <p14:sldId id="349"/>
            <p14:sldId id="301"/>
            <p14:sldId id="328"/>
            <p14:sldId id="348"/>
            <p14:sldId id="334"/>
            <p14:sldId id="347"/>
            <p14:sldId id="302"/>
            <p14:sldId id="351"/>
            <p14:sldId id="343"/>
            <p14:sldId id="344"/>
            <p14:sldId id="345"/>
            <p14:sldId id="338"/>
            <p14:sldId id="342"/>
            <p14:sldId id="339"/>
            <p14:sldId id="340"/>
            <p14:sldId id="341"/>
            <p14:sldId id="326"/>
            <p14:sldId id="320"/>
            <p14:sldId id="336"/>
            <p14:sldId id="335"/>
            <p14:sldId id="337"/>
            <p14:sldId id="3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5A"/>
    <a:srgbClr val="323F4B"/>
    <a:srgbClr val="2F57B2"/>
    <a:srgbClr val="00008C"/>
    <a:srgbClr val="FFFFFF"/>
    <a:srgbClr val="000000"/>
    <a:srgbClr val="97C6FF"/>
    <a:srgbClr val="C8C8FF"/>
    <a:srgbClr val="FFB9FF"/>
    <a:srgbClr val="FFA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137" autoAdjust="0"/>
  </p:normalViewPr>
  <p:slideViewPr>
    <p:cSldViewPr snapToGrid="0" showGuides="1">
      <p:cViewPr varScale="1">
        <p:scale>
          <a:sx n="93" d="100"/>
          <a:sy n="93" d="100"/>
        </p:scale>
        <p:origin x="149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4260DF-C685-4FF6-A43E-7F93FB3E6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901AA-A65C-4D7D-B03E-B88B42C81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3CA3E7-8995-4D33-854F-35DAE52EA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51F65-D033-4BD6-A4AB-E115D806FB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2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36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Willkommen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meiner</a:t>
            </a:r>
            <a:r>
              <a:rPr lang="en-US" dirty="0"/>
              <a:t> </a:t>
            </a:r>
            <a:r>
              <a:rPr lang="en-US" dirty="0" err="1"/>
              <a:t>Forschungsprojekt</a:t>
            </a:r>
            <a:r>
              <a:rPr lang="en-US" dirty="0"/>
              <a:t> presentation. Ich </a:t>
            </a:r>
            <a:r>
              <a:rPr lang="en-US" dirty="0" err="1"/>
              <a:t>habe</a:t>
            </a:r>
            <a:r>
              <a:rPr lang="en-US" dirty="0"/>
              <a:t> </a:t>
            </a:r>
            <a:r>
              <a:rPr lang="en-US" dirty="0" err="1"/>
              <a:t>mich</a:t>
            </a:r>
            <a:r>
              <a:rPr lang="en-US" dirty="0"/>
              <a:t> </a:t>
            </a:r>
            <a:r>
              <a:rPr lang="en-US" dirty="0" err="1"/>
              <a:t>beschäftigt</a:t>
            </a:r>
            <a:r>
              <a:rPr lang="en-US" dirty="0"/>
              <a:t> </a:t>
            </a:r>
            <a:r>
              <a:rPr lang="en-US" dirty="0" err="1"/>
              <a:t>mit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99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 der Name </a:t>
            </a:r>
            <a:r>
              <a:rPr lang="en-US" dirty="0" err="1"/>
              <a:t>schon</a:t>
            </a:r>
            <a:r>
              <a:rPr lang="en-US" dirty="0"/>
              <a:t> </a:t>
            </a:r>
            <a:r>
              <a:rPr lang="en-US" dirty="0" err="1"/>
              <a:t>sagt</a:t>
            </a:r>
            <a:r>
              <a:rPr lang="en-US" dirty="0"/>
              <a:t> </a:t>
            </a:r>
            <a:r>
              <a:rPr lang="en-US" dirty="0" err="1"/>
              <a:t>wollte</a:t>
            </a:r>
            <a:r>
              <a:rPr lang="en-US" dirty="0"/>
              <a:t> ich </a:t>
            </a:r>
            <a:r>
              <a:rPr lang="en-US" dirty="0" err="1"/>
              <a:t>einen</a:t>
            </a:r>
            <a:r>
              <a:rPr lang="en-US" dirty="0"/>
              <a:t> Ansatz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privaten</a:t>
            </a:r>
            <a:r>
              <a:rPr lang="en-US" dirty="0"/>
              <a:t> </a:t>
            </a:r>
            <a:r>
              <a:rPr lang="en-US" dirty="0" err="1"/>
              <a:t>Prozessfindung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Datenströmen</a:t>
            </a:r>
            <a:r>
              <a:rPr lang="en-US" dirty="0"/>
              <a:t> </a:t>
            </a:r>
            <a:r>
              <a:rPr lang="en-US" dirty="0" err="1"/>
              <a:t>finden</a:t>
            </a:r>
            <a:r>
              <a:rPr lang="en-US" dirty="0"/>
              <a:t>. Das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zweierlei</a:t>
            </a:r>
            <a:r>
              <a:rPr lang="en-US" dirty="0"/>
              <a:t> </a:t>
            </a:r>
            <a:r>
              <a:rPr lang="en-US" dirty="0" err="1"/>
              <a:t>Gründen</a:t>
            </a:r>
            <a:r>
              <a:rPr lang="en-US" dirty="0"/>
              <a:t> </a:t>
            </a:r>
            <a:r>
              <a:rPr lang="en-US" dirty="0" err="1"/>
              <a:t>sehr</a:t>
            </a:r>
            <a:r>
              <a:rPr lang="en-US" dirty="0"/>
              <a:t> </a:t>
            </a:r>
            <a:r>
              <a:rPr lang="en-US" dirty="0" err="1"/>
              <a:t>interessant</a:t>
            </a:r>
            <a:r>
              <a:rPr lang="en-US" dirty="0"/>
              <a:t>, </a:t>
            </a:r>
            <a:r>
              <a:rPr lang="en-US" dirty="0" err="1"/>
              <a:t>einmal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der </a:t>
            </a:r>
            <a:r>
              <a:rPr lang="en-US" dirty="0" err="1"/>
              <a:t>Forschungsperspektive</a:t>
            </a:r>
            <a:r>
              <a:rPr lang="en-US" dirty="0"/>
              <a:t>, </a:t>
            </a:r>
            <a:r>
              <a:rPr lang="en-US" dirty="0" err="1"/>
              <a:t>weil</a:t>
            </a:r>
            <a:r>
              <a:rPr lang="en-US" dirty="0"/>
              <a:t> es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schon</a:t>
            </a:r>
            <a:r>
              <a:rPr lang="en-US" dirty="0"/>
              <a:t> </a:t>
            </a:r>
            <a:r>
              <a:rPr lang="en-US" dirty="0" err="1"/>
              <a:t>gute</a:t>
            </a:r>
            <a:r>
              <a:rPr lang="en-US" dirty="0"/>
              <a:t> </a:t>
            </a:r>
            <a:r>
              <a:rPr lang="en-US" dirty="0" err="1"/>
              <a:t>Ansätze</a:t>
            </a:r>
            <a:r>
              <a:rPr lang="en-US" dirty="0"/>
              <a:t> für </a:t>
            </a:r>
            <a:r>
              <a:rPr lang="en-US" dirty="0" err="1"/>
              <a:t>statische</a:t>
            </a:r>
            <a:r>
              <a:rPr lang="en-US" dirty="0"/>
              <a:t> </a:t>
            </a:r>
            <a:r>
              <a:rPr lang="en-US" dirty="0" err="1"/>
              <a:t>historische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gibt</a:t>
            </a:r>
            <a:r>
              <a:rPr lang="en-US" dirty="0"/>
              <a:t>, </a:t>
            </a:r>
            <a:r>
              <a:rPr lang="en-US" dirty="0" err="1"/>
              <a:t>z.b.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man differential privacy </a:t>
            </a:r>
            <a:r>
              <a:rPr lang="en-US" dirty="0" err="1"/>
              <a:t>erreicht</a:t>
            </a:r>
            <a:r>
              <a:rPr lang="en-US" dirty="0"/>
              <a:t>. Für </a:t>
            </a:r>
            <a:r>
              <a:rPr lang="en-US" dirty="0" err="1"/>
              <a:t>Datenströme</a:t>
            </a:r>
            <a:r>
              <a:rPr lang="en-US" dirty="0"/>
              <a:t> </a:t>
            </a:r>
            <a:r>
              <a:rPr lang="en-US" dirty="0" err="1"/>
              <a:t>gibt</a:t>
            </a:r>
            <a:r>
              <a:rPr lang="en-US" dirty="0"/>
              <a:t> es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Forschungsbedarf</a:t>
            </a:r>
            <a:r>
              <a:rPr lang="en-US" dirty="0"/>
              <a:t>. Zum 2. </a:t>
            </a:r>
            <a:r>
              <a:rPr lang="en-US" dirty="0" err="1"/>
              <a:t>ist</a:t>
            </a:r>
            <a:r>
              <a:rPr lang="en-US" dirty="0"/>
              <a:t> es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praktischen</a:t>
            </a:r>
            <a:r>
              <a:rPr lang="en-US" dirty="0"/>
              <a:t> </a:t>
            </a:r>
            <a:r>
              <a:rPr lang="en-US" dirty="0" err="1"/>
              <a:t>Perspektive</a:t>
            </a:r>
            <a:r>
              <a:rPr lang="en-US" dirty="0"/>
              <a:t> </a:t>
            </a:r>
            <a:r>
              <a:rPr lang="en-US" dirty="0" err="1"/>
              <a:t>interessant</a:t>
            </a:r>
            <a:r>
              <a:rPr lang="en-US" dirty="0"/>
              <a:t>. Man </a:t>
            </a:r>
            <a:r>
              <a:rPr lang="en-US" dirty="0" err="1"/>
              <a:t>stelle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z.B.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Unternehmen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jeden</a:t>
            </a:r>
            <a:r>
              <a:rPr lang="en-US" dirty="0"/>
              <a:t> Tag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aktuelles</a:t>
            </a:r>
            <a:r>
              <a:rPr lang="en-US" dirty="0"/>
              <a:t> Modell von </a:t>
            </a:r>
            <a:r>
              <a:rPr lang="en-US" dirty="0" err="1"/>
              <a:t>von</a:t>
            </a:r>
            <a:r>
              <a:rPr lang="en-US" dirty="0"/>
              <a:t> seinen IoT </a:t>
            </a:r>
            <a:r>
              <a:rPr lang="en-US" dirty="0" err="1"/>
              <a:t>braucht</a:t>
            </a:r>
            <a:r>
              <a:rPr lang="en-US" dirty="0"/>
              <a:t>, da </a:t>
            </a:r>
            <a:r>
              <a:rPr lang="en-US" dirty="0" err="1"/>
              <a:t>wäre</a:t>
            </a:r>
            <a:r>
              <a:rPr lang="en-US" dirty="0"/>
              <a:t> es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sehr</a:t>
            </a:r>
            <a:r>
              <a:rPr lang="en-US" dirty="0"/>
              <a:t> </a:t>
            </a:r>
            <a:r>
              <a:rPr lang="en-US" dirty="0" err="1"/>
              <a:t>wünschenswert</a:t>
            </a:r>
            <a:r>
              <a:rPr lang="en-US" dirty="0"/>
              <a:t> </a:t>
            </a: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Prozessfindungsalgorithmen</a:t>
            </a:r>
            <a:r>
              <a:rPr lang="en-US" dirty="0"/>
              <a:t> die </a:t>
            </a:r>
            <a:r>
              <a:rPr lang="en-US" dirty="0" err="1"/>
              <a:t>Privatsphäre</a:t>
            </a:r>
            <a:r>
              <a:rPr lang="en-US" dirty="0"/>
              <a:t> </a:t>
            </a:r>
            <a:r>
              <a:rPr lang="en-US" dirty="0" err="1"/>
              <a:t>schützen</a:t>
            </a:r>
            <a:r>
              <a:rPr lang="en-US" dirty="0"/>
              <a:t>.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99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45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Events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Aufzeichnungen</a:t>
            </a:r>
            <a:r>
              <a:rPr lang="en-US" dirty="0"/>
              <a:t> von </a:t>
            </a:r>
            <a:r>
              <a:rPr lang="en-US" dirty="0" err="1"/>
              <a:t>z.b.</a:t>
            </a:r>
            <a:r>
              <a:rPr lang="en-US" dirty="0"/>
              <a:t> </a:t>
            </a:r>
            <a:r>
              <a:rPr lang="en-US" dirty="0" err="1"/>
              <a:t>Sensordaten</a:t>
            </a:r>
            <a:r>
              <a:rPr lang="en-US" dirty="0"/>
              <a:t> und </a:t>
            </a:r>
            <a:r>
              <a:rPr lang="en-US" dirty="0" err="1"/>
              <a:t>spiegeln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was </a:t>
            </a: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wem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 </a:t>
            </a:r>
            <a:r>
              <a:rPr lang="en-US" dirty="0" err="1"/>
              <a:t>bei</a:t>
            </a:r>
            <a:r>
              <a:rPr lang="en-US" dirty="0"/>
              <a:t> was (Sensor)  </a:t>
            </a:r>
            <a:r>
              <a:rPr lang="en-US" dirty="0" err="1"/>
              <a:t>passiert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4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Grundlegende</a:t>
            </a:r>
            <a:r>
              <a:rPr lang="en-US" dirty="0"/>
              <a:t> </a:t>
            </a:r>
            <a:r>
              <a:rPr lang="en-US" dirty="0" err="1"/>
              <a:t>Datenformate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Process Mining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sogenannte</a:t>
            </a:r>
            <a:r>
              <a:rPr lang="en-US" dirty="0"/>
              <a:t> Event Logs und Event Streams. </a:t>
            </a:r>
          </a:p>
          <a:p>
            <a:endParaRPr lang="en-US" dirty="0"/>
          </a:p>
          <a:p>
            <a:r>
              <a:rPr lang="en-US" dirty="0"/>
              <a:t>Event Logs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eher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traditionellen</a:t>
            </a:r>
            <a:r>
              <a:rPr lang="en-US" dirty="0"/>
              <a:t> Process Mining </a:t>
            </a:r>
            <a:r>
              <a:rPr lang="en-US" dirty="0" err="1"/>
              <a:t>benutzt</a:t>
            </a:r>
            <a:r>
              <a:rPr lang="en-US" dirty="0"/>
              <a:t> und </a:t>
            </a:r>
            <a:r>
              <a:rPr lang="en-US" dirty="0" err="1"/>
              <a:t>zeichen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dadurch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historische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endlich</a:t>
            </a:r>
            <a:r>
              <a:rPr lang="en-US" dirty="0"/>
              <a:t> </a:t>
            </a:r>
            <a:r>
              <a:rPr lang="en-US" dirty="0" err="1"/>
              <a:t>auflisten</a:t>
            </a:r>
            <a:r>
              <a:rPr lang="en-US" dirty="0"/>
              <a:t>. Sie </a:t>
            </a:r>
            <a:r>
              <a:rPr lang="en-US" dirty="0" err="1"/>
              <a:t>sind</a:t>
            </a:r>
            <a:r>
              <a:rPr lang="en-US" dirty="0"/>
              <a:t> also </a:t>
            </a:r>
            <a:r>
              <a:rPr lang="en-US" dirty="0" err="1"/>
              <a:t>eigentlich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log files in </a:t>
            </a:r>
            <a:r>
              <a:rPr lang="en-US" dirty="0" err="1"/>
              <a:t>denem</a:t>
            </a:r>
            <a:r>
              <a:rPr lang="en-US" dirty="0"/>
              <a:t> alle </a:t>
            </a:r>
            <a:r>
              <a:rPr lang="en-US" dirty="0" err="1"/>
              <a:t>gespeicherten</a:t>
            </a:r>
            <a:r>
              <a:rPr lang="en-US" dirty="0"/>
              <a:t> events </a:t>
            </a:r>
            <a:r>
              <a:rPr lang="en-US" dirty="0" err="1"/>
              <a:t>nacheinander</a:t>
            </a:r>
            <a:r>
              <a:rPr lang="en-US" dirty="0"/>
              <a:t> </a:t>
            </a:r>
            <a:r>
              <a:rPr lang="en-US" dirty="0" err="1"/>
              <a:t>aufgelistet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. </a:t>
            </a:r>
          </a:p>
          <a:p>
            <a:r>
              <a:rPr lang="en-US" dirty="0" err="1"/>
              <a:t>Beantwortet</a:t>
            </a:r>
            <a:r>
              <a:rPr lang="en-US" dirty="0"/>
              <a:t> die Frage was in der </a:t>
            </a:r>
            <a:r>
              <a:rPr lang="en-US" dirty="0" err="1"/>
              <a:t>Vergangenheit</a:t>
            </a:r>
            <a:r>
              <a:rPr lang="en-US" dirty="0"/>
              <a:t> </a:t>
            </a:r>
            <a:r>
              <a:rPr lang="en-US" dirty="0" err="1"/>
              <a:t>passiert</a:t>
            </a:r>
            <a:r>
              <a:rPr lang="en-US" dirty="0"/>
              <a:t> in </a:t>
            </a:r>
            <a:r>
              <a:rPr lang="en-US" dirty="0" err="1"/>
              <a:t>diesem</a:t>
            </a:r>
            <a:r>
              <a:rPr lang="en-US" dirty="0"/>
              <a:t> </a:t>
            </a:r>
            <a:r>
              <a:rPr lang="en-US" dirty="0" err="1"/>
              <a:t>Prozess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/>
              <a:t>Event Streams </a:t>
            </a:r>
            <a:r>
              <a:rPr lang="en-US" dirty="0" err="1"/>
              <a:t>sind</a:t>
            </a:r>
            <a:r>
              <a:rPr lang="en-US" dirty="0"/>
              <a:t> so </a:t>
            </a:r>
            <a:r>
              <a:rPr lang="en-US" dirty="0" err="1"/>
              <a:t>ähnlich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event logs,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stellen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Strom von </a:t>
            </a:r>
            <a:r>
              <a:rPr lang="en-US" dirty="0" err="1"/>
              <a:t>unendlich</a:t>
            </a:r>
            <a:r>
              <a:rPr lang="en-US" dirty="0"/>
              <a:t> </a:t>
            </a:r>
            <a:r>
              <a:rPr lang="en-US" dirty="0" err="1"/>
              <a:t>vielen</a:t>
            </a:r>
            <a:r>
              <a:rPr lang="en-US" dirty="0"/>
              <a:t> events </a:t>
            </a:r>
            <a:r>
              <a:rPr lang="en-US" dirty="0" err="1"/>
              <a:t>dar</a:t>
            </a:r>
            <a:r>
              <a:rPr lang="en-US" dirty="0"/>
              <a:t> und </a:t>
            </a:r>
            <a:r>
              <a:rPr lang="en-US" dirty="0" err="1"/>
              <a:t>spiegel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was in </a:t>
            </a:r>
            <a:r>
              <a:rPr lang="en-US" dirty="0" err="1"/>
              <a:t>exakt</a:t>
            </a:r>
            <a:r>
              <a:rPr lang="en-US" dirty="0"/>
              <a:t> dem Moment in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Prozess</a:t>
            </a:r>
            <a:r>
              <a:rPr lang="en-US" dirty="0"/>
              <a:t> </a:t>
            </a:r>
            <a:r>
              <a:rPr lang="en-US" dirty="0" err="1"/>
              <a:t>passiert</a:t>
            </a:r>
            <a:r>
              <a:rPr lang="en-US" dirty="0"/>
              <a:t>.  Es </a:t>
            </a:r>
            <a:r>
              <a:rPr lang="en-US" dirty="0" err="1"/>
              <a:t>gibt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Möglichkeiten</a:t>
            </a:r>
            <a:r>
              <a:rPr lang="en-US" dirty="0"/>
              <a:t> Event Streams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modellieren</a:t>
            </a:r>
            <a:r>
              <a:rPr lang="en-US" dirty="0"/>
              <a:t>. Ich </a:t>
            </a:r>
            <a:r>
              <a:rPr lang="en-US" dirty="0" err="1"/>
              <a:t>habe</a:t>
            </a:r>
            <a:r>
              <a:rPr lang="en-US" dirty="0"/>
              <a:t> in </a:t>
            </a:r>
            <a:r>
              <a:rPr lang="en-US" dirty="0" err="1"/>
              <a:t>dieser</a:t>
            </a:r>
            <a:r>
              <a:rPr lang="en-US" dirty="0"/>
              <a:t> Arbeit das Cash Register Modell </a:t>
            </a:r>
            <a:r>
              <a:rPr lang="en-US" dirty="0" err="1"/>
              <a:t>benutzt</a:t>
            </a:r>
            <a:r>
              <a:rPr lang="en-US" dirty="0"/>
              <a:t>, was so </a:t>
            </a:r>
            <a:r>
              <a:rPr lang="en-US" dirty="0" err="1"/>
              <a:t>viel</a:t>
            </a:r>
            <a:r>
              <a:rPr lang="en-US" dirty="0"/>
              <a:t> </a:t>
            </a:r>
            <a:r>
              <a:rPr lang="en-US" dirty="0" err="1"/>
              <a:t>bedeutet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dass</a:t>
            </a:r>
            <a:r>
              <a:rPr lang="en-US" dirty="0"/>
              <a:t> immer </a:t>
            </a:r>
            <a:r>
              <a:rPr lang="en-US" dirty="0" err="1"/>
              <a:t>neue</a:t>
            </a:r>
            <a:r>
              <a:rPr lang="en-US" dirty="0"/>
              <a:t> events </a:t>
            </a:r>
            <a:r>
              <a:rPr lang="en-US" dirty="0" err="1"/>
              <a:t>im</a:t>
            </a:r>
            <a:r>
              <a:rPr lang="en-US" dirty="0"/>
              <a:t> Strom </a:t>
            </a:r>
            <a:r>
              <a:rPr lang="en-US" dirty="0" err="1"/>
              <a:t>auftauchen</a:t>
            </a:r>
            <a:r>
              <a:rPr lang="en-US" dirty="0"/>
              <a:t> die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Nachhinein</a:t>
            </a:r>
            <a:r>
              <a:rPr lang="en-US" dirty="0"/>
              <a:t> nicht </a:t>
            </a:r>
            <a:r>
              <a:rPr lang="en-US" dirty="0" err="1"/>
              <a:t>ändern</a:t>
            </a:r>
            <a:r>
              <a:rPr lang="en-US" dirty="0"/>
              <a:t>.</a:t>
            </a:r>
          </a:p>
          <a:p>
            <a:r>
              <a:rPr lang="en-US" dirty="0" err="1"/>
              <a:t>Algorithmen</a:t>
            </a:r>
            <a:r>
              <a:rPr lang="en-US" dirty="0"/>
              <a:t> die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Strömen</a:t>
            </a:r>
            <a:r>
              <a:rPr lang="en-US" dirty="0"/>
              <a:t> </a:t>
            </a:r>
            <a:r>
              <a:rPr lang="en-US" dirty="0" err="1"/>
              <a:t>arbeiten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Andere </a:t>
            </a:r>
            <a:r>
              <a:rPr lang="en-US" dirty="0" err="1"/>
              <a:t>Anforderungen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offline </a:t>
            </a:r>
            <a:r>
              <a:rPr lang="en-US" dirty="0" err="1"/>
              <a:t>Algorithmen</a:t>
            </a:r>
            <a:r>
              <a:rPr lang="en-US" dirty="0"/>
              <a:t>, da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potetniell</a:t>
            </a:r>
            <a:r>
              <a:rPr lang="en-US" dirty="0"/>
              <a:t> </a:t>
            </a:r>
            <a:r>
              <a:rPr lang="en-US" dirty="0" err="1"/>
              <a:t>unendlich</a:t>
            </a:r>
            <a:r>
              <a:rPr lang="en-US" dirty="0"/>
              <a:t> </a:t>
            </a:r>
            <a:r>
              <a:rPr lang="en-US" dirty="0" err="1"/>
              <a:t>vielen</a:t>
            </a:r>
            <a:r>
              <a:rPr lang="en-US" dirty="0"/>
              <a:t> Events </a:t>
            </a:r>
            <a:r>
              <a:rPr lang="en-US" dirty="0" err="1"/>
              <a:t>arbeiten</a:t>
            </a:r>
            <a:r>
              <a:rPr lang="en-US" dirty="0"/>
              <a:t> </a:t>
            </a:r>
            <a:r>
              <a:rPr lang="en-US" dirty="0" err="1"/>
              <a:t>müssen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die </a:t>
            </a:r>
            <a:r>
              <a:rPr lang="en-US" dirty="0" err="1"/>
              <a:t>aufkommenden</a:t>
            </a:r>
            <a:r>
              <a:rPr lang="en-US" dirty="0"/>
              <a:t> Events on the fly </a:t>
            </a:r>
            <a:r>
              <a:rPr lang="en-US" dirty="0" err="1"/>
              <a:t>analysieren</a:t>
            </a:r>
            <a:r>
              <a:rPr lang="en-US" dirty="0"/>
              <a:t>.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86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art </a:t>
            </a:r>
            <a:r>
              <a:rPr lang="en-US" dirty="0" err="1"/>
              <a:t>Zustandsgraph</a:t>
            </a:r>
            <a:r>
              <a:rPr lang="en-US" dirty="0"/>
              <a:t>, der die </a:t>
            </a:r>
            <a:r>
              <a:rPr lang="en-US" dirty="0" err="1"/>
              <a:t>abfolge</a:t>
            </a:r>
            <a:r>
              <a:rPr lang="en-US" dirty="0"/>
              <a:t> von </a:t>
            </a:r>
            <a:r>
              <a:rPr lang="en-US" dirty="0" err="1"/>
              <a:t>aktivitäten</a:t>
            </a:r>
            <a:r>
              <a:rPr lang="en-US" dirty="0"/>
              <a:t> </a:t>
            </a:r>
            <a:r>
              <a:rPr lang="en-US" dirty="0" err="1"/>
              <a:t>anzeigt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7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Kommen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nächstes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bisschen</a:t>
            </a:r>
            <a:r>
              <a:rPr lang="en-US" dirty="0"/>
              <a:t> </a:t>
            </a:r>
            <a:r>
              <a:rPr lang="en-US" dirty="0" err="1"/>
              <a:t>mehr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Privacy. </a:t>
            </a:r>
          </a:p>
          <a:p>
            <a:r>
              <a:rPr lang="en-US" dirty="0"/>
              <a:t>Wir </a:t>
            </a:r>
            <a:r>
              <a:rPr lang="en-US" dirty="0" err="1"/>
              <a:t>wollten</a:t>
            </a:r>
            <a:r>
              <a:rPr lang="en-US" dirty="0"/>
              <a:t> Differential Privacy auf den DFGs </a:t>
            </a:r>
            <a:r>
              <a:rPr lang="en-US" dirty="0" err="1"/>
              <a:t>erreichen</a:t>
            </a:r>
            <a:r>
              <a:rPr lang="en-US" dirty="0"/>
              <a:t>, da es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mathematische</a:t>
            </a:r>
            <a:r>
              <a:rPr lang="en-US" dirty="0"/>
              <a:t> und </a:t>
            </a:r>
            <a:r>
              <a:rPr lang="en-US" dirty="0" err="1"/>
              <a:t>quanitfizierbare</a:t>
            </a:r>
            <a:r>
              <a:rPr lang="en-US" dirty="0"/>
              <a:t> </a:t>
            </a:r>
            <a:r>
              <a:rPr lang="en-US" dirty="0" err="1"/>
              <a:t>Garantie</a:t>
            </a:r>
            <a:r>
              <a:rPr lang="en-US" dirty="0"/>
              <a:t> </a:t>
            </a:r>
            <a:r>
              <a:rPr lang="en-US" dirty="0" err="1"/>
              <a:t>bietet</a:t>
            </a:r>
            <a:r>
              <a:rPr lang="en-US" dirty="0"/>
              <a:t> </a:t>
            </a:r>
            <a:r>
              <a:rPr lang="en-US" dirty="0" err="1"/>
              <a:t>dass</a:t>
            </a:r>
            <a:r>
              <a:rPr lang="en-US" dirty="0"/>
              <a:t> die </a:t>
            </a:r>
            <a:r>
              <a:rPr lang="en-US" dirty="0" err="1"/>
              <a:t>Ausgabe</a:t>
            </a:r>
            <a:r>
              <a:rPr lang="en-US" dirty="0"/>
              <a:t> von </a:t>
            </a:r>
            <a:r>
              <a:rPr lang="en-US" dirty="0" err="1"/>
              <a:t>Algorithmen</a:t>
            </a:r>
            <a:r>
              <a:rPr lang="en-US" dirty="0"/>
              <a:t> </a:t>
            </a:r>
            <a:r>
              <a:rPr lang="en-US" dirty="0" err="1"/>
              <a:t>statistisch</a:t>
            </a:r>
            <a:r>
              <a:rPr lang="en-US" dirty="0"/>
              <a:t> </a:t>
            </a:r>
            <a:r>
              <a:rPr lang="en-US" dirty="0" err="1"/>
              <a:t>ähnlich</a:t>
            </a:r>
            <a:r>
              <a:rPr lang="en-US" dirty="0"/>
              <a:t> </a:t>
            </a:r>
            <a:r>
              <a:rPr lang="en-US" dirty="0" err="1"/>
              <a:t>bleibt</a:t>
            </a:r>
            <a:r>
              <a:rPr lang="en-US" dirty="0"/>
              <a:t>, </a:t>
            </a:r>
            <a:r>
              <a:rPr lang="en-US" dirty="0" err="1"/>
              <a:t>unabhängig</a:t>
            </a:r>
            <a:r>
              <a:rPr lang="en-US" dirty="0"/>
              <a:t> </a:t>
            </a:r>
            <a:r>
              <a:rPr lang="en-US" dirty="0" err="1"/>
              <a:t>davon</a:t>
            </a:r>
            <a:r>
              <a:rPr lang="en-US" dirty="0"/>
              <a:t> </a:t>
            </a:r>
            <a:r>
              <a:rPr lang="en-US" dirty="0" err="1"/>
              <a:t>ob</a:t>
            </a:r>
            <a:r>
              <a:rPr lang="en-US" dirty="0"/>
              <a:t> die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einzelnen</a:t>
            </a:r>
            <a:r>
              <a:rPr lang="en-US" dirty="0"/>
              <a:t> Person </a:t>
            </a:r>
            <a:r>
              <a:rPr lang="en-US" dirty="0" err="1"/>
              <a:t>enthalten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nicht. 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Garantie</a:t>
            </a:r>
            <a:r>
              <a:rPr lang="en-US" dirty="0"/>
              <a:t> </a:t>
            </a:r>
            <a:r>
              <a:rPr lang="en-US" dirty="0" err="1"/>
              <a:t>erreicht</a:t>
            </a:r>
            <a:r>
              <a:rPr lang="en-US" dirty="0"/>
              <a:t> man </a:t>
            </a:r>
            <a:r>
              <a:rPr lang="en-US" dirty="0" err="1"/>
              <a:t>üblicherweise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Datenverzerrung</a:t>
            </a:r>
            <a:r>
              <a:rPr lang="en-US" dirty="0"/>
              <a:t>, </a:t>
            </a:r>
            <a:r>
              <a:rPr lang="en-US" dirty="0" err="1"/>
              <a:t>z.b.</a:t>
            </a:r>
            <a:r>
              <a:rPr lang="en-US" dirty="0"/>
              <a:t>  </a:t>
            </a:r>
            <a:r>
              <a:rPr lang="en-US" dirty="0" err="1"/>
              <a:t>Über</a:t>
            </a:r>
            <a:r>
              <a:rPr lang="en-US" dirty="0"/>
              <a:t> das </a:t>
            </a:r>
            <a:r>
              <a:rPr lang="en-US" dirty="0" err="1"/>
              <a:t>Einfügen</a:t>
            </a:r>
            <a:r>
              <a:rPr lang="en-US" dirty="0"/>
              <a:t> von Laplace </a:t>
            </a:r>
            <a:r>
              <a:rPr lang="en-US" dirty="0" err="1"/>
              <a:t>Rauschen</a:t>
            </a:r>
            <a:r>
              <a:rPr lang="en-US" dirty="0"/>
              <a:t>. Die </a:t>
            </a:r>
            <a:r>
              <a:rPr lang="en-US" dirty="0" err="1"/>
              <a:t>nötige</a:t>
            </a:r>
            <a:r>
              <a:rPr lang="en-US" dirty="0"/>
              <a:t> Menge an </a:t>
            </a:r>
            <a:r>
              <a:rPr lang="en-US" dirty="0" err="1"/>
              <a:t>Rauschen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von der </a:t>
            </a:r>
            <a:r>
              <a:rPr lang="en-US" dirty="0" err="1"/>
              <a:t>Sensitivität</a:t>
            </a:r>
            <a:r>
              <a:rPr lang="en-US" dirty="0"/>
              <a:t> Delta f (von </a:t>
            </a:r>
            <a:r>
              <a:rPr lang="en-US" dirty="0" err="1"/>
              <a:t>einem</a:t>
            </a:r>
            <a:r>
              <a:rPr lang="en-US" dirty="0"/>
              <a:t> DFG in </a:t>
            </a:r>
            <a:r>
              <a:rPr lang="en-US" dirty="0" err="1"/>
              <a:t>diesesm</a:t>
            </a:r>
            <a:r>
              <a:rPr lang="en-US" dirty="0"/>
              <a:t> Fall) und der </a:t>
            </a:r>
            <a:r>
              <a:rPr lang="en-US" dirty="0" err="1"/>
              <a:t>sogannenten</a:t>
            </a:r>
            <a:r>
              <a:rPr lang="en-US" dirty="0"/>
              <a:t> privacy budget epsilon </a:t>
            </a:r>
            <a:r>
              <a:rPr lang="en-US" dirty="0" err="1"/>
              <a:t>bestimmt</a:t>
            </a:r>
            <a:r>
              <a:rPr lang="en-US" dirty="0"/>
              <a:t>. Die </a:t>
            </a:r>
            <a:r>
              <a:rPr lang="en-US" dirty="0" err="1"/>
              <a:t>Sensitivität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dabei</a:t>
            </a:r>
            <a:r>
              <a:rPr lang="en-US" dirty="0"/>
              <a:t> der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Änderung</a:t>
            </a:r>
            <a:r>
              <a:rPr lang="en-US" dirty="0"/>
              <a:t> die </a:t>
            </a:r>
            <a:r>
              <a:rPr lang="en-US" dirty="0" err="1"/>
              <a:t>eine</a:t>
            </a:r>
            <a:r>
              <a:rPr lang="en-US" dirty="0"/>
              <a:t> Person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DFg</a:t>
            </a:r>
            <a:r>
              <a:rPr lang="en-US" dirty="0"/>
              <a:t> </a:t>
            </a:r>
            <a:r>
              <a:rPr lang="en-US" dirty="0" err="1"/>
              <a:t>erreichen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.  Es gilt </a:t>
            </a:r>
            <a:r>
              <a:rPr lang="en-US" dirty="0" err="1"/>
              <a:t>dabei</a:t>
            </a:r>
            <a:r>
              <a:rPr lang="en-US" dirty="0"/>
              <a:t> je </a:t>
            </a:r>
            <a:r>
              <a:rPr lang="en-US" dirty="0" err="1"/>
              <a:t>höher</a:t>
            </a:r>
            <a:r>
              <a:rPr lang="en-US" dirty="0"/>
              <a:t> die </a:t>
            </a:r>
            <a:r>
              <a:rPr lang="en-US" dirty="0" err="1"/>
              <a:t>Sensitivität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je Kleiner das epsilon budget </a:t>
            </a:r>
            <a:r>
              <a:rPr lang="en-US" dirty="0" err="1"/>
              <a:t>desto</a:t>
            </a:r>
            <a:r>
              <a:rPr lang="en-US" dirty="0"/>
              <a:t> </a:t>
            </a:r>
            <a:r>
              <a:rPr lang="en-US" dirty="0" err="1"/>
              <a:t>mehr</a:t>
            </a:r>
            <a:r>
              <a:rPr lang="en-US" dirty="0"/>
              <a:t> </a:t>
            </a:r>
            <a:r>
              <a:rPr lang="en-US" dirty="0" err="1"/>
              <a:t>Rauschen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notwendig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41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für </a:t>
            </a:r>
            <a:r>
              <a:rPr lang="en-US" dirty="0" err="1"/>
              <a:t>Ziele</a:t>
            </a:r>
            <a:r>
              <a:rPr lang="en-US" dirty="0"/>
              <a:t> </a:t>
            </a:r>
            <a:r>
              <a:rPr lang="en-US" dirty="0" err="1"/>
              <a:t>hatte</a:t>
            </a:r>
            <a:r>
              <a:rPr lang="en-US" dirty="0"/>
              <a:t> ich </a:t>
            </a:r>
            <a:r>
              <a:rPr lang="en-US" dirty="0" err="1"/>
              <a:t>bei</a:t>
            </a:r>
            <a:r>
              <a:rPr lang="en-US" dirty="0"/>
              <a:t> der Arbeit</a:t>
            </a:r>
          </a:p>
          <a:p>
            <a:endParaRPr lang="en-US" dirty="0"/>
          </a:p>
          <a:p>
            <a:r>
              <a:rPr lang="en-US" dirty="0"/>
              <a:t>Da </a:t>
            </a:r>
            <a:r>
              <a:rPr lang="en-US" dirty="0" err="1"/>
              <a:t>im</a:t>
            </a:r>
            <a:r>
              <a:rPr lang="en-US" dirty="0"/>
              <a:t> streaming </a:t>
            </a:r>
            <a:r>
              <a:rPr lang="en-US" dirty="0" err="1"/>
              <a:t>bereich</a:t>
            </a:r>
            <a:r>
              <a:rPr lang="en-US" dirty="0"/>
              <a:t> </a:t>
            </a:r>
            <a:r>
              <a:rPr lang="en-US" dirty="0" err="1"/>
              <a:t>endlicher</a:t>
            </a:r>
            <a:r>
              <a:rPr lang="en-US" dirty="0"/>
              <a:t> </a:t>
            </a:r>
            <a:r>
              <a:rPr lang="en-US" dirty="0" err="1"/>
              <a:t>Speicherverbrauch</a:t>
            </a:r>
            <a:r>
              <a:rPr lang="en-US" dirty="0"/>
              <a:t>.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52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 </a:t>
            </a:r>
            <a:r>
              <a:rPr lang="en-US" dirty="0" err="1"/>
              <a:t>sehen</a:t>
            </a:r>
            <a:r>
              <a:rPr lang="en-US" dirty="0"/>
              <a:t> ich </a:t>
            </a:r>
            <a:r>
              <a:rPr lang="en-US" dirty="0" err="1"/>
              <a:t>habe</a:t>
            </a:r>
            <a:r>
              <a:rPr lang="en-US" dirty="0"/>
              <a:t> in </a:t>
            </a:r>
            <a:r>
              <a:rPr lang="en-US" dirty="0" err="1"/>
              <a:t>dieser</a:t>
            </a:r>
            <a:r>
              <a:rPr lang="en-US" dirty="0"/>
              <a:t> Arbeit </a:t>
            </a:r>
            <a:r>
              <a:rPr lang="en-US" dirty="0" err="1"/>
              <a:t>eine</a:t>
            </a:r>
            <a:r>
              <a:rPr lang="en-US" dirty="0"/>
              <a:t> Pipeline </a:t>
            </a:r>
            <a:r>
              <a:rPr lang="en-US" dirty="0" err="1"/>
              <a:t>aus</a:t>
            </a:r>
            <a:r>
              <a:rPr lang="en-US" dirty="0"/>
              <a:t> 5 </a:t>
            </a:r>
            <a:r>
              <a:rPr lang="en-US" dirty="0" err="1"/>
              <a:t>schritten</a:t>
            </a:r>
            <a:r>
              <a:rPr lang="en-US" dirty="0"/>
              <a:t> </a:t>
            </a:r>
            <a:r>
              <a:rPr lang="en-US" dirty="0" err="1"/>
              <a:t>entwickelt</a:t>
            </a:r>
            <a:r>
              <a:rPr lang="en-US" dirty="0"/>
              <a:t> und am </a:t>
            </a:r>
            <a:r>
              <a:rPr lang="en-US" dirty="0" err="1"/>
              <a:t>ende</a:t>
            </a:r>
            <a:r>
              <a:rPr lang="en-US" dirty="0"/>
              <a:t> in </a:t>
            </a:r>
            <a:r>
              <a:rPr lang="en-US" dirty="0" err="1"/>
              <a:t>einen</a:t>
            </a:r>
            <a:r>
              <a:rPr lang="en-US" dirty="0"/>
              <a:t> Miner </a:t>
            </a:r>
            <a:r>
              <a:rPr lang="en-US" dirty="0" err="1"/>
              <a:t>implementiert</a:t>
            </a:r>
            <a:endParaRPr lang="en-US" dirty="0"/>
          </a:p>
          <a:p>
            <a:endParaRPr lang="en-US" dirty="0"/>
          </a:p>
          <a:p>
            <a:r>
              <a:rPr lang="en-US" dirty="0"/>
              <a:t>1. Schritt event stream </a:t>
            </a:r>
            <a:r>
              <a:rPr lang="en-US" dirty="0" err="1"/>
              <a:t>simulieren</a:t>
            </a:r>
            <a:r>
              <a:rPr lang="en-US" dirty="0"/>
              <a:t>, das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eigentlich</a:t>
            </a:r>
            <a:r>
              <a:rPr lang="en-US" dirty="0"/>
              <a:t> </a:t>
            </a:r>
            <a:r>
              <a:rPr lang="en-US" dirty="0" err="1"/>
              <a:t>unser</a:t>
            </a:r>
            <a:r>
              <a:rPr lang="en-US" dirty="0"/>
              <a:t> input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28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 dem Strom </a:t>
            </a:r>
            <a:r>
              <a:rPr lang="en-US" dirty="0" err="1"/>
              <a:t>wenden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Fensteransatz</a:t>
            </a:r>
            <a:r>
              <a:rPr lang="en-US" dirty="0"/>
              <a:t> an </a:t>
            </a:r>
          </a:p>
          <a:p>
            <a:endParaRPr lang="en-US" dirty="0"/>
          </a:p>
          <a:p>
            <a:r>
              <a:rPr lang="en-US" dirty="0"/>
              <a:t>Da </a:t>
            </a:r>
            <a:r>
              <a:rPr lang="en-US" dirty="0" err="1"/>
              <a:t>ziel</a:t>
            </a:r>
            <a:r>
              <a:rPr lang="en-US" dirty="0"/>
              <a:t> user level privacy, also alle events </a:t>
            </a:r>
            <a:r>
              <a:rPr lang="en-US" dirty="0" err="1"/>
              <a:t>vom</a:t>
            </a:r>
            <a:r>
              <a:rPr lang="en-US" dirty="0"/>
              <a:t> user </a:t>
            </a:r>
            <a:r>
              <a:rPr lang="en-US" dirty="0" err="1"/>
              <a:t>schützen</a:t>
            </a:r>
            <a:r>
              <a:rPr lang="en-US" dirty="0"/>
              <a:t> in </a:t>
            </a:r>
            <a:r>
              <a:rPr lang="en-US" dirty="0" err="1"/>
              <a:t>gesamten</a:t>
            </a:r>
            <a:r>
              <a:rPr lang="en-US" dirty="0"/>
              <a:t> </a:t>
            </a:r>
            <a:r>
              <a:rPr lang="en-US" dirty="0" err="1"/>
              <a:t>strom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Wenn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jeden</a:t>
            </a:r>
            <a:r>
              <a:rPr lang="en-US" dirty="0"/>
              <a:t> Tag das DFG </a:t>
            </a:r>
            <a:r>
              <a:rPr lang="en-US" dirty="0" err="1"/>
              <a:t>verrauschen</a:t>
            </a:r>
            <a:r>
              <a:rPr lang="en-US" dirty="0"/>
              <a:t> </a:t>
            </a:r>
            <a:r>
              <a:rPr lang="en-US" dirty="0" err="1"/>
              <a:t>summiert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das budget immer </a:t>
            </a:r>
            <a:r>
              <a:rPr lang="en-US" dirty="0" err="1"/>
              <a:t>weiter</a:t>
            </a:r>
            <a:r>
              <a:rPr lang="en-US" dirty="0"/>
              <a:t> auf und die Privacy </a:t>
            </a:r>
            <a:r>
              <a:rPr lang="en-US" dirty="0" err="1"/>
              <a:t>garantie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immer Schlechter </a:t>
            </a:r>
          </a:p>
          <a:p>
            <a:endParaRPr lang="en-US" dirty="0"/>
          </a:p>
          <a:p>
            <a:r>
              <a:rPr lang="en-US" dirty="0"/>
              <a:t>Daher </a:t>
            </a:r>
            <a:r>
              <a:rPr lang="en-US" dirty="0" err="1"/>
              <a:t>eingrenzen</a:t>
            </a:r>
            <a:r>
              <a:rPr lang="en-US" dirty="0"/>
              <a:t> auf fenster von w events, der user </a:t>
            </a:r>
            <a:r>
              <a:rPr lang="en-US" dirty="0" err="1"/>
              <a:t>darf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in </a:t>
            </a:r>
            <a:r>
              <a:rPr lang="en-US" dirty="0" err="1"/>
              <a:t>ein</a:t>
            </a:r>
            <a:r>
              <a:rPr lang="en-US" dirty="0"/>
              <a:t> fenster w events </a:t>
            </a:r>
            <a:r>
              <a:rPr lang="en-US" dirty="0" err="1"/>
              <a:t>einbringen</a:t>
            </a:r>
            <a:r>
              <a:rPr lang="en-US" dirty="0"/>
              <a:t>, </a:t>
            </a:r>
            <a:r>
              <a:rPr lang="en-US" dirty="0" err="1"/>
              <a:t>danach</a:t>
            </a:r>
            <a:r>
              <a:rPr lang="en-US" dirty="0"/>
              <a:t> nicht </a:t>
            </a:r>
            <a:r>
              <a:rPr lang="en-US" dirty="0" err="1"/>
              <a:t>mehr</a:t>
            </a:r>
            <a:r>
              <a:rPr lang="en-US" dirty="0"/>
              <a:t>, </a:t>
            </a:r>
            <a:r>
              <a:rPr lang="en-US" dirty="0" err="1"/>
              <a:t>daher</a:t>
            </a:r>
            <a:r>
              <a:rPr lang="en-US" dirty="0"/>
              <a:t> </a:t>
            </a:r>
            <a:r>
              <a:rPr lang="en-US" dirty="0" err="1"/>
              <a:t>müssen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das budget </a:t>
            </a:r>
            <a:r>
              <a:rPr lang="en-US" dirty="0" err="1"/>
              <a:t>nur</a:t>
            </a:r>
            <a:r>
              <a:rPr lang="en-US" dirty="0"/>
              <a:t> in </a:t>
            </a:r>
            <a:r>
              <a:rPr lang="en-US" dirty="0" err="1"/>
              <a:t>diesem</a:t>
            </a:r>
            <a:r>
              <a:rPr lang="en-US" dirty="0"/>
              <a:t> fenster </a:t>
            </a:r>
            <a:r>
              <a:rPr lang="en-US" dirty="0" err="1"/>
              <a:t>verteilen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Einfluss</a:t>
            </a:r>
            <a:r>
              <a:rPr lang="en-US" dirty="0"/>
              <a:t> </a:t>
            </a:r>
            <a:r>
              <a:rPr lang="en-US" dirty="0" err="1"/>
              <a:t>mus</a:t>
            </a:r>
            <a:r>
              <a:rPr lang="en-US" dirty="0"/>
              <a:t> </a:t>
            </a:r>
            <a:r>
              <a:rPr lang="en-US" dirty="0" err="1"/>
              <a:t>gelöscht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49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Schritt 3: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müssen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die </a:t>
            </a:r>
            <a:r>
              <a:rPr lang="en-US" dirty="0" err="1"/>
              <a:t>Sensitivität</a:t>
            </a:r>
            <a:r>
              <a:rPr lang="en-US" dirty="0"/>
              <a:t> </a:t>
            </a:r>
            <a:r>
              <a:rPr lang="en-US" dirty="0" err="1"/>
              <a:t>sprechen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Case Frequency </a:t>
            </a:r>
            <a:r>
              <a:rPr lang="en-US" dirty="0" err="1"/>
              <a:t>statt</a:t>
            </a:r>
            <a:r>
              <a:rPr lang="en-US" dirty="0"/>
              <a:t> Event Frequency</a:t>
            </a:r>
          </a:p>
          <a:p>
            <a:endParaRPr lang="en-US" dirty="0"/>
          </a:p>
          <a:p>
            <a:r>
              <a:rPr lang="en-US" dirty="0" err="1"/>
              <a:t>Vorher</a:t>
            </a:r>
            <a:r>
              <a:rPr lang="en-US" dirty="0"/>
              <a:t> </a:t>
            </a:r>
            <a:r>
              <a:rPr lang="en-US" dirty="0" err="1"/>
              <a:t>gezählt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häufig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Relation von Events </a:t>
            </a:r>
            <a:r>
              <a:rPr lang="en-US" dirty="0" err="1"/>
              <a:t>vorkommt</a:t>
            </a:r>
            <a:r>
              <a:rPr lang="en-US" dirty="0"/>
              <a:t> ( also </a:t>
            </a:r>
            <a:r>
              <a:rPr lang="en-US" dirty="0" err="1"/>
              <a:t>z.b.</a:t>
            </a:r>
            <a:r>
              <a:rPr lang="en-US" dirty="0"/>
              <a:t> a1 </a:t>
            </a:r>
            <a:r>
              <a:rPr lang="en-US" dirty="0" err="1"/>
              <a:t>nach</a:t>
            </a:r>
            <a:r>
              <a:rPr lang="en-US" dirty="0"/>
              <a:t> a0).</a:t>
            </a:r>
          </a:p>
          <a:p>
            <a:r>
              <a:rPr lang="en-US" dirty="0" err="1"/>
              <a:t>Jetzt</a:t>
            </a:r>
            <a:r>
              <a:rPr lang="en-US" dirty="0"/>
              <a:t>: Bei </a:t>
            </a:r>
            <a:r>
              <a:rPr lang="en-US" dirty="0" err="1"/>
              <a:t>vielen</a:t>
            </a:r>
            <a:r>
              <a:rPr lang="en-US" dirty="0"/>
              <a:t> </a:t>
            </a:r>
            <a:r>
              <a:rPr lang="en-US" dirty="0" err="1"/>
              <a:t>Personen</a:t>
            </a:r>
            <a:r>
              <a:rPr lang="en-US" dirty="0"/>
              <a:t>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Relation </a:t>
            </a:r>
            <a:r>
              <a:rPr lang="en-US" dirty="0" err="1"/>
              <a:t>vor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</a:t>
            </a:r>
          </a:p>
          <a:p>
            <a:r>
              <a:rPr lang="en-US" dirty="0" err="1"/>
              <a:t>Beschränke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events </a:t>
            </a:r>
            <a:r>
              <a:rPr lang="en-US" dirty="0" err="1"/>
              <a:t>ein</a:t>
            </a:r>
            <a:r>
              <a:rPr lang="en-US" dirty="0"/>
              <a:t> user </a:t>
            </a:r>
            <a:r>
              <a:rPr lang="en-US" dirty="0" err="1"/>
              <a:t>beisteuern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, </a:t>
            </a:r>
            <a:r>
              <a:rPr lang="en-US" dirty="0" err="1"/>
              <a:t>genau</a:t>
            </a:r>
            <a:r>
              <a:rPr lang="en-US" dirty="0"/>
              <a:t> L</a:t>
            </a:r>
          </a:p>
          <a:p>
            <a:r>
              <a:rPr lang="en-US" dirty="0"/>
              <a:t>Da </a:t>
            </a:r>
            <a:r>
              <a:rPr lang="en-US" dirty="0" err="1"/>
              <a:t>wir</a:t>
            </a:r>
            <a:r>
              <a:rPr lang="en-US" dirty="0"/>
              <a:t> Case Frequency </a:t>
            </a:r>
            <a:r>
              <a:rPr lang="en-US" dirty="0" err="1"/>
              <a:t>benutzen</a:t>
            </a:r>
            <a:r>
              <a:rPr lang="en-US" dirty="0"/>
              <a:t> </a:t>
            </a:r>
            <a:r>
              <a:rPr lang="en-US" dirty="0" err="1"/>
              <a:t>heißt</a:t>
            </a:r>
            <a:r>
              <a:rPr lang="en-US" dirty="0"/>
              <a:t> das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maximal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Beeinflussing</a:t>
            </a:r>
            <a:r>
              <a:rPr lang="en-US" dirty="0"/>
              <a:t> von L-1 </a:t>
            </a:r>
            <a:r>
              <a:rPr lang="en-US" dirty="0" err="1"/>
              <a:t>Kantenzählern</a:t>
            </a:r>
            <a:r>
              <a:rPr lang="en-US" dirty="0"/>
              <a:t>, </a:t>
            </a:r>
            <a:r>
              <a:rPr lang="en-US" dirty="0" err="1"/>
              <a:t>mit</a:t>
            </a:r>
            <a:r>
              <a:rPr lang="en-US" dirty="0"/>
              <a:t> den 2 Dummy Knoten </a:t>
            </a:r>
            <a:r>
              <a:rPr lang="en-US" dirty="0" err="1"/>
              <a:t>danna</a:t>
            </a:r>
            <a:r>
              <a:rPr lang="en-US" dirty="0"/>
              <a:t> also maximal L+1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07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:</a:t>
            </a:r>
          </a:p>
          <a:p>
            <a:r>
              <a:rPr lang="en-US" dirty="0"/>
              <a:t>User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Fenster </a:t>
            </a:r>
            <a:r>
              <a:rPr lang="en-US" dirty="0" err="1"/>
              <a:t>mit</a:t>
            </a:r>
            <a:r>
              <a:rPr lang="en-US" dirty="0"/>
              <a:t> maximal L </a:t>
            </a:r>
            <a:r>
              <a:rPr lang="en-US" dirty="0" err="1"/>
              <a:t>aktivitäten</a:t>
            </a:r>
            <a:r>
              <a:rPr lang="en-US" dirty="0"/>
              <a:t> </a:t>
            </a:r>
            <a:r>
              <a:rPr lang="en-US" dirty="0" err="1"/>
              <a:t>beeinflussen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Budget </a:t>
            </a:r>
            <a:r>
              <a:rPr lang="en-US" dirty="0" err="1"/>
              <a:t>innerhalb</a:t>
            </a:r>
            <a:r>
              <a:rPr lang="en-US" dirty="0"/>
              <a:t> des Fenster </a:t>
            </a:r>
            <a:r>
              <a:rPr lang="en-US" dirty="0" err="1"/>
              <a:t>stabil</a:t>
            </a:r>
            <a:r>
              <a:rPr lang="en-US" dirty="0"/>
              <a:t> </a:t>
            </a:r>
            <a:r>
              <a:rPr lang="en-US" dirty="0" err="1"/>
              <a:t>halten</a:t>
            </a:r>
            <a:r>
              <a:rPr lang="en-US" dirty="0"/>
              <a:t>, was tun </a:t>
            </a:r>
            <a:r>
              <a:rPr lang="en-US" dirty="0" err="1"/>
              <a:t>wenn</a:t>
            </a:r>
            <a:r>
              <a:rPr lang="en-US" dirty="0"/>
              <a:t> es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Veröffentlichungen</a:t>
            </a:r>
            <a:r>
              <a:rPr lang="en-US" dirty="0"/>
              <a:t> </a:t>
            </a:r>
            <a:r>
              <a:rPr lang="en-US" dirty="0" err="1"/>
              <a:t>gibt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Dynamische</a:t>
            </a:r>
            <a:r>
              <a:rPr lang="en-US" dirty="0"/>
              <a:t> Budget </a:t>
            </a:r>
            <a:r>
              <a:rPr lang="en-US" dirty="0" err="1"/>
              <a:t>Strategie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2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 </a:t>
            </a:r>
            <a:r>
              <a:rPr lang="en-US" dirty="0" err="1"/>
              <a:t>punkte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events die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user </a:t>
            </a:r>
            <a:r>
              <a:rPr lang="en-US" dirty="0" err="1"/>
              <a:t>gehören</a:t>
            </a:r>
            <a:r>
              <a:rPr lang="en-US" dirty="0"/>
              <a:t>. Die </a:t>
            </a:r>
            <a:r>
              <a:rPr lang="en-US" dirty="0" err="1"/>
              <a:t>hellroten</a:t>
            </a:r>
            <a:r>
              <a:rPr lang="en-US" dirty="0"/>
              <a:t> </a:t>
            </a:r>
            <a:r>
              <a:rPr lang="en-US" dirty="0" err="1"/>
              <a:t>fließen</a:t>
            </a:r>
            <a:r>
              <a:rPr lang="en-US" dirty="0"/>
              <a:t> </a:t>
            </a:r>
            <a:r>
              <a:rPr lang="en-US" err="1"/>
              <a:t>dabei</a:t>
            </a:r>
            <a:r>
              <a:rPr lang="en-US"/>
              <a:t> n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94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Accumulated DFG: Ein DFG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laufenden</a:t>
            </a:r>
            <a:r>
              <a:rPr lang="en-US" dirty="0"/>
              <a:t> </a:t>
            </a:r>
            <a:r>
              <a:rPr lang="en-US" dirty="0" err="1"/>
              <a:t>Summen</a:t>
            </a:r>
            <a:r>
              <a:rPr lang="en-US" dirty="0"/>
              <a:t>, </a:t>
            </a:r>
            <a:r>
              <a:rPr lang="en-US" dirty="0" err="1"/>
              <a:t>summieren</a:t>
            </a:r>
            <a:r>
              <a:rPr lang="en-US" dirty="0"/>
              <a:t> die Kanten </a:t>
            </a:r>
            <a:r>
              <a:rPr lang="en-US" dirty="0" err="1"/>
              <a:t>aller</a:t>
            </a:r>
            <a:r>
              <a:rPr lang="en-US" dirty="0"/>
              <a:t> </a:t>
            </a:r>
            <a:r>
              <a:rPr lang="en-US" dirty="0" err="1"/>
              <a:t>publizierten</a:t>
            </a:r>
            <a:r>
              <a:rPr lang="en-US" dirty="0"/>
              <a:t> </a:t>
            </a:r>
            <a:r>
              <a:rPr lang="en-US" dirty="0" err="1"/>
              <a:t>privaten</a:t>
            </a:r>
            <a:r>
              <a:rPr lang="en-US" dirty="0"/>
              <a:t> DFGs auf in der Hoffnung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das </a:t>
            </a:r>
            <a:r>
              <a:rPr lang="en-US" dirty="0" err="1"/>
              <a:t>Rauschen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bisschen</a:t>
            </a:r>
            <a:r>
              <a:rPr lang="en-US" dirty="0"/>
              <a:t> </a:t>
            </a:r>
            <a:r>
              <a:rPr lang="en-US" dirty="0" err="1"/>
              <a:t>ausbalanciert</a:t>
            </a:r>
            <a:r>
              <a:rPr lang="en-US" dirty="0"/>
              <a:t>, da die Laplace </a:t>
            </a:r>
            <a:r>
              <a:rPr lang="en-US" dirty="0" err="1"/>
              <a:t>Verteilung</a:t>
            </a:r>
            <a:r>
              <a:rPr lang="en-US" dirty="0"/>
              <a:t> um 0 </a:t>
            </a:r>
            <a:r>
              <a:rPr lang="en-US" dirty="0" err="1"/>
              <a:t>gemittelt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65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Sehr </a:t>
            </a:r>
            <a:r>
              <a:rPr lang="en-US" dirty="0" err="1"/>
              <a:t>viele</a:t>
            </a:r>
            <a:r>
              <a:rPr lang="en-US" dirty="0"/>
              <a:t> Parameter </a:t>
            </a:r>
            <a:r>
              <a:rPr lang="en-US" dirty="0" err="1"/>
              <a:t>durchprobiert</a:t>
            </a:r>
            <a:r>
              <a:rPr lang="en-US" dirty="0"/>
              <a:t>, </a:t>
            </a:r>
            <a:r>
              <a:rPr lang="en-US" dirty="0" err="1"/>
              <a:t>zeige</a:t>
            </a:r>
            <a:r>
              <a:rPr lang="en-US" dirty="0"/>
              <a:t> </a:t>
            </a:r>
            <a:r>
              <a:rPr lang="en-US" dirty="0" err="1"/>
              <a:t>jetzt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Ergebnisse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den </a:t>
            </a:r>
            <a:r>
              <a:rPr lang="en-US" dirty="0" err="1"/>
              <a:t>besten</a:t>
            </a:r>
            <a:r>
              <a:rPr lang="en-US" dirty="0"/>
              <a:t> </a:t>
            </a:r>
            <a:r>
              <a:rPr lang="en-US" dirty="0" err="1"/>
              <a:t>durchschnittlichen</a:t>
            </a:r>
            <a:r>
              <a:rPr lang="en-US" dirty="0"/>
              <a:t> F1score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90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Alle 4 </a:t>
            </a:r>
            <a:r>
              <a:rPr lang="en-US" dirty="0" err="1"/>
              <a:t>beobachteten</a:t>
            </a:r>
            <a:r>
              <a:rPr lang="en-US" dirty="0"/>
              <a:t> logs </a:t>
            </a:r>
            <a:r>
              <a:rPr lang="en-US" dirty="0" err="1"/>
              <a:t>sehen</a:t>
            </a:r>
            <a:r>
              <a:rPr lang="en-US" dirty="0"/>
              <a:t>,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der private window miner </a:t>
            </a:r>
            <a:r>
              <a:rPr lang="en-US" dirty="0" err="1"/>
              <a:t>geschlagen</a:t>
            </a:r>
            <a:r>
              <a:rPr lang="en-US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Jetzt</a:t>
            </a:r>
            <a:r>
              <a:rPr lang="en-US" dirty="0"/>
              <a:t> für alle </a:t>
            </a:r>
            <a:r>
              <a:rPr lang="en-US" dirty="0" err="1"/>
              <a:t>folgeneden</a:t>
            </a:r>
            <a:r>
              <a:rPr lang="en-US" dirty="0"/>
              <a:t>  </a:t>
            </a:r>
            <a:r>
              <a:rPr lang="en-US" dirty="0" err="1"/>
              <a:t>Darstellungen</a:t>
            </a:r>
            <a:r>
              <a:rPr lang="en-US" dirty="0"/>
              <a:t> auf der y </a:t>
            </a:r>
            <a:r>
              <a:rPr lang="en-US" dirty="0" err="1"/>
              <a:t>Achse</a:t>
            </a:r>
            <a:r>
              <a:rPr lang="en-US" dirty="0"/>
              <a:t> der F1 score (</a:t>
            </a:r>
            <a:r>
              <a:rPr lang="en-US" dirty="0" err="1"/>
              <a:t>harmonisches</a:t>
            </a:r>
            <a:r>
              <a:rPr lang="en-US" dirty="0"/>
              <a:t> Mittel </a:t>
            </a:r>
            <a:r>
              <a:rPr lang="en-US" dirty="0" err="1"/>
              <a:t>aus</a:t>
            </a:r>
            <a:r>
              <a:rPr lang="en-US" dirty="0"/>
              <a:t> Fitness und Precision) und x aches den Fortschritt des </a:t>
            </a:r>
            <a:r>
              <a:rPr lang="en-US" dirty="0" err="1"/>
              <a:t>simulierten</a:t>
            </a:r>
            <a:r>
              <a:rPr lang="en-US" dirty="0"/>
              <a:t> streams, 0 </a:t>
            </a:r>
            <a:r>
              <a:rPr lang="en-US" dirty="0" err="1"/>
              <a:t>keine</a:t>
            </a:r>
            <a:r>
              <a:rPr lang="en-US" dirty="0"/>
              <a:t> Events </a:t>
            </a:r>
            <a:r>
              <a:rPr lang="en-US" dirty="0" err="1"/>
              <a:t>verteilt</a:t>
            </a:r>
            <a:r>
              <a:rPr lang="en-US" dirty="0"/>
              <a:t> und 1 alle </a:t>
            </a:r>
            <a:r>
              <a:rPr lang="en-US" dirty="0" err="1"/>
              <a:t>verteilt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Dunkelrot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inductive miner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Hellrot</a:t>
            </a:r>
            <a:r>
              <a:rPr lang="en-US" dirty="0"/>
              <a:t> heuristic miner 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- Blau baseline: </a:t>
            </a:r>
            <a:r>
              <a:rPr lang="en-US" dirty="0" err="1"/>
              <a:t>selber</a:t>
            </a:r>
            <a:r>
              <a:rPr lang="en-US" dirty="0"/>
              <a:t> </a:t>
            </a:r>
            <a:r>
              <a:rPr lang="en-US" dirty="0" err="1"/>
              <a:t>algorithmus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ohne</a:t>
            </a:r>
            <a:r>
              <a:rPr lang="en-US" dirty="0"/>
              <a:t> </a:t>
            </a:r>
            <a:r>
              <a:rPr lang="en-US" dirty="0" err="1"/>
              <a:t>Rauschen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Fluctuation – </a:t>
            </a:r>
            <a:r>
              <a:rPr lang="en-US" dirty="0" err="1"/>
              <a:t>sehr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publicationen</a:t>
            </a:r>
            <a:r>
              <a:rPr lang="en-US" dirty="0"/>
              <a:t>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16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Sehr </a:t>
            </a:r>
            <a:r>
              <a:rPr lang="en-US" dirty="0" err="1"/>
              <a:t>viel</a:t>
            </a:r>
            <a:r>
              <a:rPr lang="en-US" dirty="0"/>
              <a:t> </a:t>
            </a:r>
            <a:r>
              <a:rPr lang="en-US" dirty="0" err="1"/>
              <a:t>ruhiger</a:t>
            </a:r>
            <a:r>
              <a:rPr lang="en-US" dirty="0"/>
              <a:t>, </a:t>
            </a:r>
            <a:r>
              <a:rPr lang="en-US" dirty="0" err="1"/>
              <a:t>fluktuiert</a:t>
            </a:r>
            <a:r>
              <a:rPr lang="en-US" dirty="0"/>
              <a:t> nicht </a:t>
            </a:r>
            <a:r>
              <a:rPr lang="en-US" dirty="0" err="1"/>
              <a:t>mehr</a:t>
            </a:r>
            <a:r>
              <a:rPr lang="en-US" dirty="0"/>
              <a:t> so </a:t>
            </a:r>
            <a:r>
              <a:rPr lang="en-US" dirty="0" err="1"/>
              <a:t>sehr</a:t>
            </a:r>
            <a:r>
              <a:rPr lang="en-US" dirty="0"/>
              <a:t>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Andere baseline: der Wert des </a:t>
            </a:r>
            <a:r>
              <a:rPr lang="en-US" dirty="0" err="1"/>
              <a:t>vollen</a:t>
            </a:r>
            <a:r>
              <a:rPr lang="en-US" dirty="0"/>
              <a:t> logs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offline </a:t>
            </a:r>
            <a:r>
              <a:rPr lang="en-US" dirty="0" err="1"/>
              <a:t>berechnet</a:t>
            </a:r>
            <a:r>
              <a:rPr lang="en-US" dirty="0"/>
              <a:t>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22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Immer der </a:t>
            </a:r>
            <a:r>
              <a:rPr lang="en-US" dirty="0" err="1"/>
              <a:t>letzte</a:t>
            </a:r>
            <a:r>
              <a:rPr lang="en-US" dirty="0"/>
              <a:t> </a:t>
            </a:r>
            <a:r>
              <a:rPr lang="en-US" dirty="0" err="1"/>
              <a:t>gültige</a:t>
            </a:r>
            <a:r>
              <a:rPr lang="en-US" dirty="0"/>
              <a:t> wert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gezeigt</a:t>
            </a:r>
            <a:endParaRPr lang="en-US" dirty="0"/>
          </a:p>
          <a:p>
            <a:endParaRPr lang="en-US" dirty="0"/>
          </a:p>
          <a:p>
            <a:r>
              <a:rPr lang="en-US" dirty="0"/>
              <a:t>- 3 Heatmaps </a:t>
            </a:r>
            <a:r>
              <a:rPr lang="en-US" dirty="0" err="1"/>
              <a:t>mit</a:t>
            </a:r>
            <a:r>
              <a:rPr lang="en-US" dirty="0"/>
              <a:t> 3 </a:t>
            </a:r>
            <a:r>
              <a:rPr lang="en-US" dirty="0" err="1"/>
              <a:t>verschiedenen</a:t>
            </a:r>
            <a:r>
              <a:rPr lang="en-US" dirty="0"/>
              <a:t> </a:t>
            </a:r>
            <a:r>
              <a:rPr lang="en-US" dirty="0" err="1"/>
              <a:t>Quantilen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Vergleich</a:t>
            </a:r>
            <a:r>
              <a:rPr lang="en-US" dirty="0"/>
              <a:t> baseline 0.94 </a:t>
            </a:r>
            <a:r>
              <a:rPr lang="en-US" dirty="0" err="1"/>
              <a:t>wäre</a:t>
            </a:r>
            <a:r>
              <a:rPr lang="en-US" dirty="0"/>
              <a:t> </a:t>
            </a:r>
            <a:r>
              <a:rPr lang="en-US" dirty="0" err="1"/>
              <a:t>mögliche</a:t>
            </a:r>
            <a:r>
              <a:rPr lang="en-US" dirty="0"/>
              <a:t> </a:t>
            </a:r>
            <a:r>
              <a:rPr lang="en-US" dirty="0" err="1"/>
              <a:t>gewesen</a:t>
            </a:r>
            <a:r>
              <a:rPr lang="en-US" dirty="0"/>
              <a:t>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06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Schriftgröße 32pt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de-DE" dirty="0"/>
              <a:t>Mastertextformat Schriftgröße 20pt</a:t>
            </a:r>
            <a:br>
              <a:rPr lang="de-DE" dirty="0"/>
            </a:br>
            <a:r>
              <a:rPr lang="de-DE" dirty="0"/>
              <a:t>(Kann vergrößert werden auf 24pt, Minimum Schriftgröße 16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Die Schriftgrößen wurde in folgenden Räumen getestet</a:t>
            </a:r>
          </a:p>
          <a:p>
            <a:pPr lvl="2"/>
            <a:r>
              <a:rPr lang="de-DE" dirty="0"/>
              <a:t>HSZ Audimax</a:t>
            </a:r>
          </a:p>
          <a:p>
            <a:pPr lvl="2"/>
            <a:r>
              <a:rPr lang="de-DE" dirty="0"/>
              <a:t>HSZ Hörsaal 3</a:t>
            </a:r>
          </a:p>
          <a:p>
            <a:pPr lvl="2"/>
            <a:r>
              <a:rPr lang="de-DE" dirty="0"/>
              <a:t>HSZ Seminarraum klein</a:t>
            </a:r>
          </a:p>
          <a:p>
            <a:pPr lvl="1"/>
            <a:r>
              <a:rPr lang="de-DE" dirty="0"/>
              <a:t>In allen drei Räumen ist 20 und 24 </a:t>
            </a:r>
            <a:r>
              <a:rPr lang="de-DE" dirty="0" err="1"/>
              <a:t>pt</a:t>
            </a:r>
            <a:r>
              <a:rPr lang="de-DE" dirty="0"/>
              <a:t> gut lesbar. Im </a:t>
            </a:r>
            <a:r>
              <a:rPr lang="de-DE" dirty="0" err="1"/>
              <a:t>Seminaraum</a:t>
            </a:r>
            <a:r>
              <a:rPr lang="de-DE" dirty="0"/>
              <a:t> ist 16 </a:t>
            </a:r>
            <a:r>
              <a:rPr lang="de-DE" dirty="0" err="1"/>
              <a:t>pt</a:t>
            </a:r>
            <a:r>
              <a:rPr lang="de-DE" dirty="0"/>
              <a:t> grenzwertig klein.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6E97365-2970-48C5-8643-B05B104BD1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8075614" y="6057900"/>
            <a:ext cx="3506786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Platz für Zweitlogos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71FF40-B767-4E15-B8F5-6DAC252E9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7D106F-3835-4287-88EB-AAAD315A8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2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D2337E2-6B3B-430B-8F0C-236691AFA7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33AC041-1A6E-42F5-81A2-02C98A0F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DA15133A-699F-4D35-8F40-4E67A2D2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404811"/>
            <a:ext cx="1980000" cy="660000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8BF6A3ED-341B-442E-8210-E4319907CA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rgbClr val="00008C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7338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A579EDF-77CB-4860-8B94-3DF47A80CB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9430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4202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8995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8276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543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265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85D84F3-0188-409A-9BD3-30A16A8588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4608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C08A1F-7110-46BF-80E3-5D4C8537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42979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7251700 w 12192000"/>
              <a:gd name="connsiteY1" fmla="*/ 1270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7785100"/>
              <a:gd name="connsiteY0" fmla="*/ 0 h 6858000"/>
              <a:gd name="connsiteX1" fmla="*/ 7251700 w 7785100"/>
              <a:gd name="connsiteY1" fmla="*/ 12700 h 6858000"/>
              <a:gd name="connsiteX2" fmla="*/ 7785100 w 7785100"/>
              <a:gd name="connsiteY2" fmla="*/ 6832600 h 6858000"/>
              <a:gd name="connsiteX3" fmla="*/ 0 w 7785100"/>
              <a:gd name="connsiteY3" fmla="*/ 6858000 h 6858000"/>
              <a:gd name="connsiteX4" fmla="*/ 0 w 7785100"/>
              <a:gd name="connsiteY4" fmla="*/ 0 h 6858000"/>
              <a:gd name="connsiteX0" fmla="*/ 0 w 8682083"/>
              <a:gd name="connsiteY0" fmla="*/ 0 h 6858000"/>
              <a:gd name="connsiteX1" fmla="*/ 8148683 w 8682083"/>
              <a:gd name="connsiteY1" fmla="*/ 12700 h 6858000"/>
              <a:gd name="connsiteX2" fmla="*/ 8682083 w 8682083"/>
              <a:gd name="connsiteY2" fmla="*/ 6832600 h 6858000"/>
              <a:gd name="connsiteX3" fmla="*/ 896983 w 8682083"/>
              <a:gd name="connsiteY3" fmla="*/ 6858000 h 6858000"/>
              <a:gd name="connsiteX4" fmla="*/ 0 w 8682083"/>
              <a:gd name="connsiteY4" fmla="*/ 0 h 6858000"/>
              <a:gd name="connsiteX0" fmla="*/ 26126 w 8708209"/>
              <a:gd name="connsiteY0" fmla="*/ 0 h 6840583"/>
              <a:gd name="connsiteX1" fmla="*/ 8174809 w 8708209"/>
              <a:gd name="connsiteY1" fmla="*/ 12700 h 6840583"/>
              <a:gd name="connsiteX2" fmla="*/ 8708209 w 8708209"/>
              <a:gd name="connsiteY2" fmla="*/ 6832600 h 6840583"/>
              <a:gd name="connsiteX3" fmla="*/ 0 w 8708209"/>
              <a:gd name="connsiteY3" fmla="*/ 6840583 h 6840583"/>
              <a:gd name="connsiteX4" fmla="*/ 26126 w 8708209"/>
              <a:gd name="connsiteY4" fmla="*/ 0 h 684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C08A1F-7110-46BF-80E3-5D4C8537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7289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32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5E3CC9-E682-422B-B7B9-2A2A3E0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82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23506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6FE31676-EF83-4ECE-8009-0FC4D5A718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A4BDBAA4-F784-4AF6-8050-D275CB31D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2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718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6F1AB9C3-872C-41DD-AAFB-12824DBEE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9E05B2F-0577-47C9-8146-C4868416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EF6DC9D-F43A-4B05-BC55-F3417C310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9C69ADDD-319E-4394-8BC9-FC045CE07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28AB6FB-FFC3-4AE6-90AB-D58E7C728B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44C123A-AE63-4AD9-ACB1-ADF410315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F80E9119-D6F6-4FA2-9F16-025406D0F8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55313796-962D-4CF1-AC12-A82B83090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66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27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D0AE451-788D-480F-872A-9EB3DCE41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53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648956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41738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3CC3083-A26C-4FFF-ABB9-A52A975CA5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6924675"/>
              <a:gd name="connsiteY0" fmla="*/ 0 h 6858000"/>
              <a:gd name="connsiteX1" fmla="*/ 568642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6924675"/>
              <a:gd name="connsiteY0" fmla="*/ 0 h 6858000"/>
              <a:gd name="connsiteX1" fmla="*/ 628332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7508875"/>
              <a:gd name="connsiteY0" fmla="*/ 0 h 6858000"/>
              <a:gd name="connsiteX1" fmla="*/ 6283325 w 7508875"/>
              <a:gd name="connsiteY1" fmla="*/ 0 h 6858000"/>
              <a:gd name="connsiteX2" fmla="*/ 7508875 w 7508875"/>
              <a:gd name="connsiteY2" fmla="*/ 6858000 h 6858000"/>
              <a:gd name="connsiteX3" fmla="*/ 0 w 7508875"/>
              <a:gd name="connsiteY3" fmla="*/ 6858000 h 6858000"/>
              <a:gd name="connsiteX4" fmla="*/ 0 w 750887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967086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D9D1B83-BB64-4D87-85E3-7B792A9EDE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08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D725AF-5383-4E5D-A2D3-3FABBEC0B6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753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>
            <a:extLst>
              <a:ext uri="{FF2B5EF4-FFF2-40B4-BE49-F238E27FC236}">
                <a16:creationId xmlns:a16="http://schemas.microsoft.com/office/drawing/2014/main" id="{2664A485-C158-4BFC-B46D-7201DF28B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161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79737FE-1C79-470F-BA5B-0406C5992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061B13-C907-4A87-B55A-8284A73D5D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048EAF-9787-48D5-83DB-543645FD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55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4E10E8-4BB9-460B-9BDB-62195F7C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C75E21A-6BBF-4B32-A70F-301838EEE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A73340-69A4-498B-8B80-80BE3D077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B2E58B-9728-4374-A113-BCFD69F635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307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el und 2 Inhalt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5"/>
          </p:nvPr>
        </p:nvSpPr>
        <p:spPr>
          <a:xfrm>
            <a:off x="6267450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6644675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9017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58240" y="-6925627"/>
            <a:ext cx="14660880" cy="146608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88D79D-95E0-48C6-B019-1226D5FF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F6757A7-BF21-40B3-87C7-F536EB12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8A27A73C-FDCC-408D-8A9B-5EBAC1916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93732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6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afik 7">
            <a:extLst>
              <a:ext uri="{FF2B5EF4-FFF2-40B4-BE49-F238E27FC236}">
                <a16:creationId xmlns:a16="http://schemas.microsoft.com/office/drawing/2014/main" id="{ACAEB40F-408E-4739-B8F1-87C3D3468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-5498743" y="-5465484"/>
            <a:ext cx="17788812" cy="17788968"/>
            <a:chOff x="-14264640" y="-3715061"/>
            <a:chExt cx="22488583" cy="22488781"/>
          </a:xfrm>
          <a:solidFill>
            <a:schemeClr val="accent2"/>
          </a:solidFill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195269A-E3C2-4E88-93E3-F49E631252D9}"/>
                </a:ext>
              </a:extLst>
            </p:cNvPr>
            <p:cNvSpPr/>
            <p:nvPr/>
          </p:nvSpPr>
          <p:spPr>
            <a:xfrm>
              <a:off x="-7293192" y="-3715061"/>
              <a:ext cx="15517136" cy="14730115"/>
            </a:xfrm>
            <a:custGeom>
              <a:avLst/>
              <a:gdLst>
                <a:gd name="connsiteX0" fmla="*/ 15517137 w 15517136"/>
                <a:gd name="connsiteY0" fmla="*/ 13362007 h 14730115"/>
                <a:gd name="connsiteX1" fmla="*/ 7758668 w 15517136"/>
                <a:gd name="connsiteY1" fmla="*/ 14730115 h 14730115"/>
                <a:gd name="connsiteX2" fmla="*/ 7758668 w 15517136"/>
                <a:gd name="connsiteY2" fmla="*/ 7758667 h 14730115"/>
                <a:gd name="connsiteX3" fmla="*/ 0 w 15517136"/>
                <a:gd name="connsiteY3" fmla="*/ 0 h 14730115"/>
                <a:gd name="connsiteX4" fmla="*/ 8930316 w 15517136"/>
                <a:gd name="connsiteY4" fmla="*/ 198 h 14730115"/>
                <a:gd name="connsiteX5" fmla="*/ 15517137 w 15517136"/>
                <a:gd name="connsiteY5" fmla="*/ 6586821 h 14730115"/>
                <a:gd name="connsiteX6" fmla="*/ 15517137 w 15517136"/>
                <a:gd name="connsiteY6" fmla="*/ 13362007 h 147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136" h="14730115">
                  <a:moveTo>
                    <a:pt x="15517137" y="13362007"/>
                  </a:moveTo>
                  <a:lnTo>
                    <a:pt x="7758668" y="14730115"/>
                  </a:lnTo>
                  <a:lnTo>
                    <a:pt x="7758668" y="7758667"/>
                  </a:lnTo>
                  <a:lnTo>
                    <a:pt x="0" y="0"/>
                  </a:lnTo>
                  <a:lnTo>
                    <a:pt x="8930316" y="198"/>
                  </a:lnTo>
                  <a:lnTo>
                    <a:pt x="15517137" y="6586821"/>
                  </a:lnTo>
                  <a:lnTo>
                    <a:pt x="15517137" y="13362007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539E4E4-5E00-4985-8757-11EFDE979DB4}"/>
                </a:ext>
              </a:extLst>
            </p:cNvPr>
            <p:cNvSpPr/>
            <p:nvPr/>
          </p:nvSpPr>
          <p:spPr>
            <a:xfrm>
              <a:off x="-14264640" y="4043604"/>
              <a:ext cx="15517334" cy="14730114"/>
            </a:xfrm>
            <a:custGeom>
              <a:avLst/>
              <a:gdLst>
                <a:gd name="connsiteX0" fmla="*/ 0 w 15517334"/>
                <a:gd name="connsiteY0" fmla="*/ 1368109 h 14730114"/>
                <a:gd name="connsiteX1" fmla="*/ 7758470 w 15517334"/>
                <a:gd name="connsiteY1" fmla="*/ 0 h 14730114"/>
                <a:gd name="connsiteX2" fmla="*/ 7758470 w 15517334"/>
                <a:gd name="connsiteY2" fmla="*/ 6971449 h 14730114"/>
                <a:gd name="connsiteX3" fmla="*/ 15517335 w 15517334"/>
                <a:gd name="connsiteY3" fmla="*/ 14730115 h 14730114"/>
                <a:gd name="connsiteX4" fmla="*/ 6586822 w 15517334"/>
                <a:gd name="connsiteY4" fmla="*/ 14730115 h 14730114"/>
                <a:gd name="connsiteX5" fmla="*/ 0 w 15517334"/>
                <a:gd name="connsiteY5" fmla="*/ 8143294 h 14730114"/>
                <a:gd name="connsiteX6" fmla="*/ 0 w 15517334"/>
                <a:gd name="connsiteY6" fmla="*/ 1368109 h 147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334" h="14730114">
                  <a:moveTo>
                    <a:pt x="0" y="1368109"/>
                  </a:moveTo>
                  <a:lnTo>
                    <a:pt x="7758470" y="0"/>
                  </a:lnTo>
                  <a:lnTo>
                    <a:pt x="7758470" y="6971449"/>
                  </a:lnTo>
                  <a:lnTo>
                    <a:pt x="15517335" y="14730115"/>
                  </a:lnTo>
                  <a:lnTo>
                    <a:pt x="6586822" y="14730115"/>
                  </a:lnTo>
                  <a:lnTo>
                    <a:pt x="0" y="8143294"/>
                  </a:lnTo>
                  <a:lnTo>
                    <a:pt x="0" y="1368109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1052513"/>
            <a:ext cx="7250113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2286952"/>
            <a:ext cx="7250113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65121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03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26BB01A-29ED-4144-A31A-DD51B5606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077647-9C5F-4C27-93BC-289003A5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642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A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85B0F-EAE3-4972-B2DD-61B691A3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3568399" y="-22289839"/>
            <a:ext cx="37239647" cy="5396725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53F19BAF-18FD-44C8-85CA-F8853215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7CA3D32E-E2F8-4C0E-AF41-451C832967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A0901FF-14F3-43C6-9205-4A412557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294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BB6767-F2B8-4BAA-BF07-3F9A160B3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484427" y="-5069549"/>
            <a:ext cx="18380919" cy="182111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6187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-4760594" y="-4145914"/>
            <a:ext cx="17099914" cy="17099914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61728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AD44A7-FBE6-494B-B2A9-85542E1AE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2633468" y="-5918273"/>
            <a:ext cx="18354113" cy="18354113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1CBF57BC-B38C-414F-92BB-F40579F88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B2B44DCF-A510-4A00-82ED-05FBF8B59E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16388" y="6207760"/>
            <a:ext cx="5599112" cy="286068"/>
          </a:xfrm>
        </p:spPr>
        <p:txBody>
          <a:bodyPr anchor="b" anchorCtr="0"/>
          <a:lstStyle>
            <a:lvl1pPr>
              <a:defRPr sz="1200" i="0">
                <a:solidFill>
                  <a:schemeClr val="bg1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80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2FBAC-C92F-4FEA-8170-E94EC94C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3500000">
            <a:off x="-4681402" y="-7532589"/>
            <a:ext cx="21582744" cy="21582744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79C7FCDB-8A5F-4D8C-B998-2CC83B8C89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FB4AAEC-A7C5-4365-B424-8E68D40435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8926" y="6177280"/>
            <a:ext cx="5581650" cy="31654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6576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752599"/>
            <a:ext cx="4441825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459102"/>
            <a:ext cx="4441824" cy="138289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7B07D508-A251-41EA-8DE7-638920575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267325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5365122-AA94-4D9A-8BDB-BC7E3297F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11" name="Grafik 10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3CEFA202-FC75-4BA0-ACC7-222E3B636E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6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Privacy-Preserving Continuous Process Discovery • Fabian Sandkuhl • Page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‹Nr.›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705" r:id="rId3"/>
    <p:sldLayoutId id="2147483780" r:id="rId4"/>
    <p:sldLayoutId id="2147483781" r:id="rId5"/>
    <p:sldLayoutId id="2147483782" r:id="rId6"/>
    <p:sldLayoutId id="2147483783" r:id="rId7"/>
    <p:sldLayoutId id="2147483776" r:id="rId8"/>
    <p:sldLayoutId id="2147483784" r:id="rId9"/>
    <p:sldLayoutId id="2147483785" r:id="rId10"/>
    <p:sldLayoutId id="2147483769" r:id="rId11"/>
    <p:sldLayoutId id="2147483778" r:id="rId12"/>
    <p:sldLayoutId id="2147483779" r:id="rId13"/>
    <p:sldLayoutId id="2147483710" r:id="rId14"/>
    <p:sldLayoutId id="2147483652" r:id="rId15"/>
    <p:sldLayoutId id="2147483709" r:id="rId16"/>
    <p:sldLayoutId id="2147483656" r:id="rId17"/>
    <p:sldLayoutId id="2147483665" r:id="rId18"/>
    <p:sldLayoutId id="2147483657" r:id="rId19"/>
    <p:sldLayoutId id="2147483666" r:id="rId20"/>
    <p:sldLayoutId id="2147483654" r:id="rId21"/>
    <p:sldLayoutId id="2147483655" r:id="rId22"/>
    <p:sldLayoutId id="2147483694" r:id="rId23"/>
    <p:sldLayoutId id="2147483695" r:id="rId24"/>
    <p:sldLayoutId id="2147483696" r:id="rId25"/>
    <p:sldLayoutId id="2147483777" r:id="rId26"/>
    <p:sldLayoutId id="2147483771" r:id="rId27"/>
    <p:sldLayoutId id="2147483772" r:id="rId28"/>
    <p:sldLayoutId id="2147483773" r:id="rId29"/>
    <p:sldLayoutId id="2147483775" r:id="rId30"/>
    <p:sldLayoutId id="2147483774" r:id="rId31"/>
    <p:sldLayoutId id="2147483786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  <p15:guide id="36" orient="horz" pos="3543" userDrawn="1">
          <p15:clr>
            <a:srgbClr val="F26B43"/>
          </p15:clr>
        </p15:guide>
        <p15:guide id="37" orient="horz" pos="19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06" r:id="rId8"/>
    <p:sldLayoutId id="2147483767" r:id="rId9"/>
    <p:sldLayoutId id="2147483768" r:id="rId10"/>
    <p:sldLayoutId id="21474837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4.png"/><Relationship Id="rId4" Type="http://schemas.openxmlformats.org/officeDocument/2006/relationships/image" Target="../media/image4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665963823000933" TargetMode="External"/><Relationship Id="rId2" Type="http://schemas.openxmlformats.org/officeDocument/2006/relationships/hyperlink" Target="https://doi.org/10.1007/978-3-031-08848-3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doi.org/10.1007/978-3-031-08848-3%2011" TargetMode="External"/><Relationship Id="rId4" Type="http://schemas.openxmlformats.org/officeDocument/2006/relationships/hyperlink" Target="https://doi.org/10.1145/362686.362692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4778/2732977.2732989" TargetMode="External"/><Relationship Id="rId2" Type="http://schemas.openxmlformats.org/officeDocument/2006/relationships/hyperlink" Target="https://doi.org/10.1145/1806689.1806787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dx.doi.org/10.1109/ICPM63005.2024.10680684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upload.wikimedia.org/wikipedia/commons/5/5a/Laplace-verteilung.svg" TargetMode="Externa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92127-A6D4-4DE7-B042-2AE843D73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Privacy-Preserving Continuous</a:t>
            </a:r>
            <a:br>
              <a:rPr lang="en-US" noProof="0" dirty="0"/>
            </a:br>
            <a:r>
              <a:rPr lang="en-US" noProof="0" dirty="0"/>
              <a:t>Process Discovery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1F6330-C39B-4485-AD3C-BF8578A25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Fabian Sandkuhl,</a:t>
            </a:r>
          </a:p>
          <a:p>
            <a:r>
              <a:rPr lang="en-US" noProof="0" dirty="0" err="1"/>
              <a:t>Fakultät</a:t>
            </a:r>
            <a:r>
              <a:rPr lang="en-US" noProof="0" dirty="0"/>
              <a:t> Informatik, </a:t>
            </a:r>
            <a:r>
              <a:rPr lang="en-US" noProof="0" dirty="0" err="1"/>
              <a:t>Systemarchitektur</a:t>
            </a:r>
            <a:r>
              <a:rPr lang="en-US" noProof="0" dirty="0"/>
              <a:t>, Privacy and Security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3C57DC0-CDAD-4228-BA26-3D1CE1558B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Kolloquium</a:t>
            </a:r>
            <a:r>
              <a:rPr lang="en-US" noProof="0" dirty="0"/>
              <a:t> INF-PM_FPA // 11.08.2026</a:t>
            </a:r>
          </a:p>
        </p:txBody>
      </p:sp>
    </p:spTree>
    <p:extLst>
      <p:ext uri="{BB962C8B-B14F-4D97-AF65-F5344CB8AC3E}">
        <p14:creationId xmlns:p14="http://schemas.microsoft.com/office/powerpoint/2010/main" val="221336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FF68764-1122-4848-ADDD-58EA605AA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00005A"/>
                </a:solidFill>
              </a:rPr>
              <a:t>Agenda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E76C346-CC58-4E44-9FA1-A2D9C5F9C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noProof="0" dirty="0"/>
              <a:t>Motivation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Background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Methodology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Experimental Setup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Results 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Conclusion 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3280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D54EE7-8B38-F543-BB60-84B92A00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Motivation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53A636-14A4-D25D-D456-02A4323BE2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1504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28D43641-3735-6E03-4536-6509FA0BF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36294"/>
            <a:ext cx="5286375" cy="3724275"/>
          </a:xfrm>
          <a:prstGeom prst="rect">
            <a:avLst/>
          </a:prstGeom>
        </p:spPr>
      </p:pic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6137AA42-2EE3-3317-0B7C-145037245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36294"/>
            <a:ext cx="5286375" cy="3724275"/>
          </a:xfrm>
          <a:prstGeom prst="rect">
            <a:avLst/>
          </a:prstGeom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90D2A56-BCCF-28CA-6FFC-3E7028577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286375" cy="4105275"/>
          </a:xfrm>
        </p:spPr>
        <p:txBody>
          <a:bodyPr/>
          <a:lstStyle/>
          <a:p>
            <a:pPr algn="ctr"/>
            <a:r>
              <a:rPr lang="en-US" b="1" u="sng" noProof="0" dirty="0">
                <a:solidFill>
                  <a:schemeClr val="tx2">
                    <a:lumMod val="50000"/>
                  </a:schemeClr>
                </a:solidFill>
              </a:rPr>
              <a:t>Research Perspective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5A"/>
                </a:solidFill>
              </a:rPr>
              <a:t>Static event logs are already well researched [1, 14]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5A"/>
                </a:solidFill>
              </a:rPr>
              <a:t>Approaches like Differential Privacy exist successfully for offline, finite datasets[14]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5A"/>
                </a:solidFill>
              </a:rPr>
              <a:t>More research for infinite online data required</a:t>
            </a:r>
          </a:p>
          <a:p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795579-0AC5-320C-9CB6-E05491C8EB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US" b="1" u="sng" noProof="0" dirty="0">
                <a:solidFill>
                  <a:schemeClr val="tx2">
                    <a:lumMod val="50000"/>
                  </a:schemeClr>
                </a:solidFill>
              </a:rPr>
              <a:t>Enterprise Practice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5A"/>
                </a:solidFill>
              </a:rPr>
              <a:t>Real time monitoring of current data states in streaming contexts[16]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5A"/>
                </a:solidFill>
              </a:rPr>
              <a:t>For instance IoT data streams 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B487A39-07ED-0D15-AE46-237272FB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chemeClr val="tx2">
                    <a:lumMod val="50000"/>
                  </a:schemeClr>
                </a:solidFill>
              </a:rPr>
              <a:t>Motivation: Research &amp; Enterprise</a:t>
            </a:r>
          </a:p>
        </p:txBody>
      </p:sp>
      <p:pic>
        <p:nvPicPr>
          <p:cNvPr id="10" name="Picture 11" descr="image.png">
            <a:extLst>
              <a:ext uri="{FF2B5EF4-FFF2-40B4-BE49-F238E27FC236}">
                <a16:creationId xmlns:a16="http://schemas.microsoft.com/office/drawing/2014/main" id="{38533F8E-336B-4EA0-01EF-133AECA49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0581" y="4525830"/>
            <a:ext cx="905188" cy="716970"/>
          </a:xfrm>
          <a:prstGeom prst="rect">
            <a:avLst/>
          </a:prstGeom>
        </p:spPr>
      </p:pic>
      <p:pic>
        <p:nvPicPr>
          <p:cNvPr id="12" name="Picture 9" descr="image.png">
            <a:extLst>
              <a:ext uri="{FF2B5EF4-FFF2-40B4-BE49-F238E27FC236}">
                <a16:creationId xmlns:a16="http://schemas.microsoft.com/office/drawing/2014/main" id="{2A83193D-3630-497B-6221-3C36397AD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1911" y="4501000"/>
            <a:ext cx="720706" cy="7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9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97FB5-6934-EF5B-D11E-51873D66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Background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4D8EC3-DD39-BDF3-2578-2B032C7BE6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7149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image.png">
            <a:extLst>
              <a:ext uri="{FF2B5EF4-FFF2-40B4-BE49-F238E27FC236}">
                <a16:creationId xmlns:a16="http://schemas.microsoft.com/office/drawing/2014/main" id="{F1728B2D-CF16-90AB-C652-5744CC335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25" y="1329572"/>
            <a:ext cx="5286375" cy="43913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D60AE4-5C68-B4A4-BF6A-DAB0722A0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 anchor="t">
            <a:normAutofit/>
          </a:bodyPr>
          <a:lstStyle/>
          <a:p>
            <a:r>
              <a:rPr lang="de-DE" b="1" dirty="0">
                <a:solidFill>
                  <a:srgbClr val="00005A"/>
                </a:solidFill>
              </a:rPr>
              <a:t>Background: Events</a:t>
            </a:r>
            <a:endParaRPr lang="en-GB" b="1" dirty="0">
              <a:solidFill>
                <a:srgbClr val="00005A"/>
              </a:solidFill>
            </a:endParaRP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765BB516-163F-18E0-1901-593C9B3217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13" y="1481138"/>
            <a:ext cx="5195887" cy="43608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23F4B"/>
                </a:solidFill>
              </a:rPr>
              <a:t>Record of real process executions recorded by sensors or derived from IT systems that record activities over time[1, 15]</a:t>
            </a:r>
            <a:endParaRPr lang="de-DE" sz="1600" dirty="0">
              <a:solidFill>
                <a:srgbClr val="323F4B"/>
              </a:solidFill>
            </a:endParaRPr>
          </a:p>
          <a:p>
            <a:endParaRPr lang="de-DE" sz="1600" dirty="0">
              <a:solidFill>
                <a:srgbClr val="323F4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rgbClr val="323F4B"/>
                </a:solidFill>
              </a:rPr>
              <a:t>Each</a:t>
            </a:r>
            <a:r>
              <a:rPr lang="de-DE" sz="1600" dirty="0">
                <a:solidFill>
                  <a:srgbClr val="323F4B"/>
                </a:solidFill>
              </a:rPr>
              <a:t> </a:t>
            </a:r>
            <a:r>
              <a:rPr lang="de-DE" sz="1600" dirty="0" err="1">
                <a:solidFill>
                  <a:srgbClr val="323F4B"/>
                </a:solidFill>
              </a:rPr>
              <a:t>event</a:t>
            </a:r>
            <a:r>
              <a:rPr lang="de-DE" sz="1600" dirty="0">
                <a:solidFill>
                  <a:srgbClr val="323F4B"/>
                </a:solidFill>
              </a:rPr>
              <a:t> </a:t>
            </a:r>
            <a:r>
              <a:rPr lang="de-DE" sz="1600" dirty="0" err="1">
                <a:solidFill>
                  <a:srgbClr val="323F4B"/>
                </a:solidFill>
              </a:rPr>
              <a:t>contains</a:t>
            </a:r>
            <a:r>
              <a:rPr lang="de-DE" sz="1600" dirty="0">
                <a:solidFill>
                  <a:srgbClr val="323F4B"/>
                </a:solidFill>
              </a:rPr>
              <a:t> at least:</a:t>
            </a:r>
          </a:p>
          <a:p>
            <a:pPr marL="537750" lvl="2" indent="-285750">
              <a:buFont typeface="Wingdings" panose="05000000000000000000" pitchFamily="2" charset="2"/>
              <a:buChar char="q"/>
            </a:pPr>
            <a:r>
              <a:rPr lang="de-DE" sz="1600" dirty="0">
                <a:solidFill>
                  <a:srgbClr val="323F4B"/>
                </a:solidFill>
              </a:rPr>
              <a:t>Case ID </a:t>
            </a:r>
          </a:p>
          <a:p>
            <a:pPr marL="537750" lvl="2" indent="-285750">
              <a:buFont typeface="Wingdings" panose="05000000000000000000" pitchFamily="2" charset="2"/>
              <a:buChar char="q"/>
            </a:pPr>
            <a:r>
              <a:rPr lang="de-DE" sz="1600" dirty="0" err="1">
                <a:solidFill>
                  <a:srgbClr val="323F4B"/>
                </a:solidFill>
              </a:rPr>
              <a:t>Activity</a:t>
            </a:r>
            <a:endParaRPr lang="de-DE" sz="1600" dirty="0">
              <a:solidFill>
                <a:srgbClr val="323F4B"/>
              </a:solidFill>
            </a:endParaRPr>
          </a:p>
          <a:p>
            <a:pPr marL="537750" lvl="2" indent="-285750">
              <a:buFont typeface="Wingdings" panose="05000000000000000000" pitchFamily="2" charset="2"/>
              <a:buChar char="q"/>
            </a:pPr>
            <a:r>
              <a:rPr lang="de-DE" sz="1600" dirty="0" err="1">
                <a:solidFill>
                  <a:srgbClr val="323F4B"/>
                </a:solidFill>
              </a:rPr>
              <a:t>Timestamp</a:t>
            </a:r>
            <a:endParaRPr lang="de-DE" sz="1600" dirty="0">
              <a:solidFill>
                <a:srgbClr val="323F4B"/>
              </a:solidFill>
            </a:endParaRPr>
          </a:p>
          <a:p>
            <a:pPr lvl="2" indent="0">
              <a:buNone/>
            </a:pPr>
            <a:endParaRPr lang="de-DE" sz="1600" dirty="0">
              <a:solidFill>
                <a:srgbClr val="323F4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23F4B"/>
                </a:solidFill>
              </a:rPr>
              <a:t>A trace is the sequence of all events belonging to the same case ID [1]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6BB6A1E1-809C-6767-6F8E-B756BC94B8DD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1524948145"/>
              </p:ext>
            </p:extLst>
          </p:nvPr>
        </p:nvGraphicFramePr>
        <p:xfrm>
          <a:off x="6812879" y="1416970"/>
          <a:ext cx="436846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527">
                  <a:extLst>
                    <a:ext uri="{9D8B030D-6E8A-4147-A177-3AD203B41FA5}">
                      <a16:colId xmlns:a16="http://schemas.microsoft.com/office/drawing/2014/main" val="3321705896"/>
                    </a:ext>
                  </a:extLst>
                </a:gridCol>
                <a:gridCol w="1347470">
                  <a:extLst>
                    <a:ext uri="{9D8B030D-6E8A-4147-A177-3AD203B41FA5}">
                      <a16:colId xmlns:a16="http://schemas.microsoft.com/office/drawing/2014/main" val="2295940701"/>
                    </a:ext>
                  </a:extLst>
                </a:gridCol>
                <a:gridCol w="1347470">
                  <a:extLst>
                    <a:ext uri="{9D8B030D-6E8A-4147-A177-3AD203B41FA5}">
                      <a16:colId xmlns:a16="http://schemas.microsoft.com/office/drawing/2014/main" val="3461759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b="1" dirty="0"/>
                        <a:t>Case-</a:t>
                      </a:r>
                      <a:r>
                        <a:rPr lang="de-DE" sz="1600" b="1" dirty="0" err="1"/>
                        <a:t>Id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Activity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Timestamp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192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eat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14.06.26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88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play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15.6.26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868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sleep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10.8.26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85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eat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11.4.25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011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sleep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13.5.26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282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7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image.png">
            <a:extLst>
              <a:ext uri="{FF2B5EF4-FFF2-40B4-BE49-F238E27FC236}">
                <a16:creationId xmlns:a16="http://schemas.microsoft.com/office/drawing/2014/main" id="{E4B7F415-D76C-0D10-B651-31EAC2297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8388"/>
            <a:ext cx="5286375" cy="4391359"/>
          </a:xfrm>
          <a:prstGeom prst="rect">
            <a:avLst/>
          </a:prstGeom>
        </p:spPr>
      </p:pic>
      <p:pic>
        <p:nvPicPr>
          <p:cNvPr id="6" name="Picture 1" descr="image.png">
            <a:extLst>
              <a:ext uri="{FF2B5EF4-FFF2-40B4-BE49-F238E27FC236}">
                <a16:creationId xmlns:a16="http://schemas.microsoft.com/office/drawing/2014/main" id="{60FB899E-EDCB-BF6A-55D4-F79502695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06" y="1608388"/>
            <a:ext cx="5286375" cy="4391359"/>
          </a:xfrm>
          <a:prstGeom prst="rect">
            <a:avLst/>
          </a:prstGeom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83630A9-D4E8-1E12-8F8B-EF0C9BE049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135981" cy="4263022"/>
          </a:xfrm>
        </p:spPr>
        <p:txBody>
          <a:bodyPr/>
          <a:lstStyle/>
          <a:p>
            <a:pPr algn="ctr"/>
            <a:r>
              <a:rPr lang="en-US" b="1" u="sng" noProof="0" dirty="0">
                <a:solidFill>
                  <a:srgbClr val="323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Event Logs [1]</a:t>
            </a:r>
          </a:p>
          <a:p>
            <a:r>
              <a:rPr lang="en-US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standard format used in traditional process mining application.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Consists of finite, historical datasets</a:t>
            </a:r>
            <a:br>
              <a:rPr lang="en-US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noProof="0" dirty="0">
              <a:solidFill>
                <a:srgbClr val="0000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 for deep, retrospective analysis of completed process executions </a:t>
            </a:r>
            <a:br>
              <a:rPr lang="en-US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noProof="0" dirty="0">
              <a:solidFill>
                <a:srgbClr val="0000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noProof="0" dirty="0">
              <a:solidFill>
                <a:srgbClr val="0000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happened in the past?</a:t>
            </a:r>
            <a:endParaRPr lang="en-US" noProof="0" dirty="0">
              <a:solidFill>
                <a:srgbClr val="0000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320926-0A75-B2C2-AA6F-87177CA227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US" b="1" u="sng" noProof="0" dirty="0">
                <a:solidFill>
                  <a:srgbClr val="323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Event Stream [5,16] </a:t>
            </a:r>
          </a:p>
          <a:p>
            <a:r>
              <a:rPr lang="en-US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reality of modern, real-time digital environments (e.g. IoT).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an infinite sequence of arriving events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Operates on the „Cash Register“ / Insertion Only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Requires incremental, „on-the-fly“ processing algorithms.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happening right now?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D56C195-06B4-8A68-8968-7B7AF29A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323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Background: Event Log and Event Stream</a:t>
            </a:r>
          </a:p>
        </p:txBody>
      </p:sp>
      <p:pic>
        <p:nvPicPr>
          <p:cNvPr id="8" name="Picture 9" descr="image.png">
            <a:extLst>
              <a:ext uri="{FF2B5EF4-FFF2-40B4-BE49-F238E27FC236}">
                <a16:creationId xmlns:a16="http://schemas.microsoft.com/office/drawing/2014/main" id="{D0A66A96-8433-EC0B-1D04-95DAD0DA9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36725"/>
            <a:ext cx="402557" cy="452877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8719997C-DD8A-595A-F09D-EF10A8792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50" y="1791713"/>
            <a:ext cx="342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54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C7DA94E-8574-DB47-F83B-B118DD99CF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500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aim to discover a fundamental process model known as Directly Follows Graph (DFG) [1, 16]:</a:t>
            </a:r>
          </a:p>
        </p:txBody>
      </p:sp>
      <p:pic>
        <p:nvPicPr>
          <p:cNvPr id="22" name="Inhaltsplatzhalter 21">
            <a:extLst>
              <a:ext uri="{FF2B5EF4-FFF2-40B4-BE49-F238E27FC236}">
                <a16:creationId xmlns:a16="http://schemas.microsoft.com/office/drawing/2014/main" id="{0CEC1875-7726-69FB-7E0B-58E5EFDDC2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950" y="2175607"/>
            <a:ext cx="5378450" cy="3227510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05833B20-3340-04FC-2E44-CA28F618A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chemeClr val="tx2">
                    <a:lumMod val="50000"/>
                  </a:schemeClr>
                </a:solidFill>
              </a:rPr>
              <a:t>Background: Process Discovery &amp; DFGs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E7D6AB02-6E48-9489-6517-1BF39E0DBDA8}"/>
              </a:ext>
            </a:extLst>
          </p:cNvPr>
          <p:cNvSpPr txBox="1"/>
          <p:nvPr/>
        </p:nvSpPr>
        <p:spPr>
          <a:xfrm>
            <a:off x="1000125" y="2638425"/>
            <a:ext cx="4857750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Nodes (Activities):</a:t>
            </a:r>
            <a:r>
              <a:rPr lang="en-US" sz="1500" b="0" i="0" u="none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 distinct process steps occurring in the system.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F1F3445E-7ED1-329E-346D-A04C3C1BCD5F}"/>
              </a:ext>
            </a:extLst>
          </p:cNvPr>
          <p:cNvSpPr txBox="1"/>
          <p:nvPr/>
        </p:nvSpPr>
        <p:spPr>
          <a:xfrm>
            <a:off x="1000125" y="3486150"/>
            <a:ext cx="4857750" cy="582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Edges (Transitions):</a:t>
            </a:r>
            <a:r>
              <a:rPr lang="en-US" sz="1500" b="0" i="0" u="none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Directed edges capturing how often a specific activity directly follows another.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50D6FE5-8794-CE37-B3F7-8DC25A0CC47B}"/>
              </a:ext>
            </a:extLst>
          </p:cNvPr>
          <p:cNvSpPr txBox="1"/>
          <p:nvPr/>
        </p:nvSpPr>
        <p:spPr>
          <a:xfrm>
            <a:off x="1000125" y="4333875"/>
            <a:ext cx="4857750" cy="579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Dummy Nodes:</a:t>
            </a:r>
            <a:r>
              <a:rPr lang="en-US" sz="1500" b="0" i="0" u="none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Artificial Start and End nodes are added to track entry and exit </a:t>
            </a:r>
            <a:r>
              <a:rPr lang="en-US" sz="1500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activities</a:t>
            </a:r>
            <a:r>
              <a:rPr lang="en-US" sz="1500" b="0" i="0" u="none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17CC21-8105-3722-8B41-DA26B8278A41}"/>
              </a:ext>
            </a:extLst>
          </p:cNvPr>
          <p:cNvSpPr txBox="1"/>
          <p:nvPr/>
        </p:nvSpPr>
        <p:spPr>
          <a:xfrm>
            <a:off x="1000125" y="5181600"/>
            <a:ext cx="4857750" cy="582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Foundation:</a:t>
            </a:r>
            <a:r>
              <a:rPr lang="en-US" sz="1500" b="0" i="0" u="none" noProof="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DFGs are </a:t>
            </a:r>
            <a:r>
              <a:rPr lang="en-US" sz="1500" noProof="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</a:t>
            </a:r>
            <a:r>
              <a:rPr lang="en-US" sz="1500" b="0" i="0" u="none" noProof="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representations that </a:t>
            </a:r>
            <a:r>
              <a:rPr lang="en-US" sz="1500" noProof="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converted into more </a:t>
            </a:r>
            <a:r>
              <a:rPr lang="en-US" sz="1500" b="0" i="0" u="none" noProof="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models.</a:t>
            </a:r>
          </a:p>
        </p:txBody>
      </p:sp>
      <p:pic>
        <p:nvPicPr>
          <p:cNvPr id="14" name="Picture 12" descr="image.png">
            <a:extLst>
              <a:ext uri="{FF2B5EF4-FFF2-40B4-BE49-F238E27FC236}">
                <a16:creationId xmlns:a16="http://schemas.microsoft.com/office/drawing/2014/main" id="{01A1DD28-1547-07F9-1CB6-FE5C103D3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71762"/>
            <a:ext cx="247650" cy="257175"/>
          </a:xfrm>
          <a:prstGeom prst="rect">
            <a:avLst/>
          </a:prstGeom>
        </p:spPr>
      </p:pic>
      <p:pic>
        <p:nvPicPr>
          <p:cNvPr id="16" name="Picture 13" descr="image.png">
            <a:extLst>
              <a:ext uri="{FF2B5EF4-FFF2-40B4-BE49-F238E27FC236}">
                <a16:creationId xmlns:a16="http://schemas.microsoft.com/office/drawing/2014/main" id="{AE597AC8-DAD8-8C9B-99C3-3A724B59F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19487"/>
            <a:ext cx="219075" cy="257175"/>
          </a:xfrm>
          <a:prstGeom prst="rect">
            <a:avLst/>
          </a:prstGeom>
        </p:spPr>
      </p:pic>
      <p:pic>
        <p:nvPicPr>
          <p:cNvPr id="18" name="Picture 14" descr="image.png">
            <a:extLst>
              <a:ext uri="{FF2B5EF4-FFF2-40B4-BE49-F238E27FC236}">
                <a16:creationId xmlns:a16="http://schemas.microsoft.com/office/drawing/2014/main" id="{022271EE-D2FE-EAB0-BB6B-6B8622E86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67212"/>
            <a:ext cx="190500" cy="257175"/>
          </a:xfrm>
          <a:prstGeom prst="rect">
            <a:avLst/>
          </a:prstGeom>
        </p:spPr>
      </p:pic>
      <p:pic>
        <p:nvPicPr>
          <p:cNvPr id="20" name="Picture 15" descr="image.png">
            <a:extLst>
              <a:ext uri="{FF2B5EF4-FFF2-40B4-BE49-F238E27FC236}">
                <a16:creationId xmlns:a16="http://schemas.microsoft.com/office/drawing/2014/main" id="{CD3FDD9C-3870-3CC6-8A7B-262EF8822D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214937"/>
            <a:ext cx="276225" cy="25717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6D0B160-C5F1-6189-A43F-D18C690ADB97}"/>
              </a:ext>
            </a:extLst>
          </p:cNvPr>
          <p:cNvSpPr txBox="1"/>
          <p:nvPr/>
        </p:nvSpPr>
        <p:spPr>
          <a:xfrm>
            <a:off x="9047748" y="5688111"/>
            <a:ext cx="3038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5A"/>
                </a:solidFill>
              </a:rPr>
              <a:t>own </a:t>
            </a:r>
            <a:r>
              <a:rPr lang="de-DE" sz="1400" dirty="0" err="1">
                <a:solidFill>
                  <a:srgbClr val="00005A"/>
                </a:solidFill>
              </a:rPr>
              <a:t>representation</a:t>
            </a:r>
            <a:r>
              <a:rPr lang="de-DE" sz="1400" dirty="0">
                <a:solidFill>
                  <a:srgbClr val="00005A"/>
                </a:solidFill>
              </a:rPr>
              <a:t>, AI generated</a:t>
            </a:r>
          </a:p>
        </p:txBody>
      </p:sp>
    </p:spTree>
    <p:extLst>
      <p:ext uri="{BB962C8B-B14F-4D97-AF65-F5344CB8AC3E}">
        <p14:creationId xmlns:p14="http://schemas.microsoft.com/office/powerpoint/2010/main" val="810070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852DF42E-1BB3-6FAD-F80F-5001F6F2B1C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5A"/>
                    </a:solidFill>
                  </a:rPr>
                  <a:t>M</a:t>
                </a:r>
                <a:r>
                  <a:rPr lang="en-US" noProof="0" dirty="0" err="1">
                    <a:solidFill>
                      <a:srgbClr val="00005A"/>
                    </a:solidFill>
                  </a:rPr>
                  <a:t>athematical</a:t>
                </a:r>
                <a:r>
                  <a:rPr lang="en-US" noProof="0" dirty="0">
                    <a:solidFill>
                      <a:srgbClr val="00005A"/>
                    </a:solidFill>
                  </a:rPr>
                  <a:t> guarantee that the output of an algorithm remains statistically similar regardless whether a single individual's data is included [9,10,11].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solidFill>
                      <a:srgbClr val="00005A"/>
                    </a:solidFill>
                  </a:rPr>
                  <a:t>Common Method: Injection of Laplace noise</a:t>
                </a:r>
                <a:endParaRPr lang="en-US" dirty="0">
                  <a:solidFill>
                    <a:srgbClr val="00005A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5A"/>
                    </a:solidFill>
                  </a:rPr>
                  <a:t>A</a:t>
                </a:r>
                <a:r>
                  <a:rPr lang="en-US" noProof="0" dirty="0">
                    <a:solidFill>
                      <a:srgbClr val="00005A"/>
                    </a:solidFill>
                  </a:rPr>
                  <a:t>mount of noise steered by the global </a:t>
                </a:r>
                <a:r>
                  <a:rPr lang="en-US" b="1" noProof="0" dirty="0">
                    <a:solidFill>
                      <a:srgbClr val="00005A"/>
                    </a:solidFill>
                  </a:rPr>
                  <a:t>sensitivity</a:t>
                </a:r>
                <a:r>
                  <a:rPr lang="en-US" noProof="0" dirty="0">
                    <a:solidFill>
                      <a:srgbClr val="00005A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noProof="0" smtClean="0">
                        <a:solidFill>
                          <a:srgbClr val="00005A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noProof="0" smtClean="0">
                        <a:solidFill>
                          <a:srgbClr val="00005A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0" dirty="0">
                    <a:solidFill>
                      <a:srgbClr val="00005A"/>
                    </a:solidFill>
                  </a:rPr>
                  <a:t> of the query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rgbClr val="00005A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0" dirty="0">
                    <a:solidFill>
                      <a:srgbClr val="00005A"/>
                    </a:solidFill>
                  </a:rPr>
                  <a:t> and available privacy budget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rgbClr val="00005A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noProof="0" dirty="0">
                    <a:solidFill>
                      <a:srgbClr val="00005A"/>
                    </a:solidFill>
                  </a:rPr>
                  <a:t> [9,10,11]</a:t>
                </a:r>
              </a:p>
              <a:p>
                <a:r>
                  <a:rPr lang="en-US" sz="2400" noProof="0" dirty="0">
                    <a:solidFill>
                      <a:srgbClr val="2F57B2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solidFill>
                          <a:srgbClr val="2F57B2"/>
                        </a:solidFill>
                        <a:latin typeface="Cambria Math" panose="02040503050406030204" pitchFamily="18" charset="0"/>
                      </a:rPr>
                      <m:t>𝐿𝑎𝑝</m:t>
                    </m:r>
                    <m:r>
                      <a:rPr lang="en-US" sz="2400" b="0" i="1" noProof="0" smtClean="0">
                        <a:solidFill>
                          <a:srgbClr val="2F57B2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b="0" i="1" noProof="0" smtClean="0">
                            <a:solidFill>
                              <a:srgbClr val="2F57B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1" noProof="0" smtClean="0">
                            <a:solidFill>
                              <a:srgbClr val="2F57B2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noProof="0" smtClean="0">
                            <a:solidFill>
                              <a:srgbClr val="2F57B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noProof="0" smtClean="0">
                            <a:solidFill>
                              <a:srgbClr val="2F57B2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  <m:r>
                      <a:rPr lang="en-US" sz="2400" b="0" i="1" noProof="0" smtClean="0">
                        <a:solidFill>
                          <a:srgbClr val="2F57B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2400" i="1">
                        <a:solidFill>
                          <a:srgbClr val="2F57B2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400" i="1">
                        <a:solidFill>
                          <a:srgbClr val="2F57B2"/>
                        </a:solidFill>
                        <a:latin typeface="Cambria Math" panose="02040503050406030204" pitchFamily="18" charset="0"/>
                      </a:rPr>
                      <m:t>𝐿𝑎𝑝</m:t>
                    </m:r>
                    <m:r>
                      <a:rPr lang="de-DE" sz="2400" i="1">
                        <a:solidFill>
                          <a:srgbClr val="2F57B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solidFill>
                          <a:srgbClr val="2F57B2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de-DE" sz="2400" b="0" i="1" smtClean="0">
                        <a:solidFill>
                          <a:srgbClr val="2F57B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b="0" noProof="0" dirty="0">
                  <a:solidFill>
                    <a:srgbClr val="2F57B2"/>
                  </a:solidFill>
                </a:endParaRPr>
              </a:p>
              <a:p>
                <a:endParaRPr lang="de-DE" sz="2400" b="0" noProof="0" dirty="0">
                  <a:solidFill>
                    <a:srgbClr val="2F57B2"/>
                  </a:solidFill>
                </a:endParaRPr>
              </a:p>
              <a:p>
                <a:endParaRPr lang="de-DE" sz="2400" b="0" noProof="0" dirty="0">
                  <a:solidFill>
                    <a:srgbClr val="2F57B2"/>
                  </a:solidFill>
                </a:endParaRPr>
              </a:p>
              <a:p>
                <a:endParaRPr lang="en-US" sz="2400" b="0" noProof="0" dirty="0">
                  <a:solidFill>
                    <a:srgbClr val="2F57B2"/>
                  </a:solidFill>
                </a:endParaRP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852DF42E-1BB3-6FAD-F80F-5001F6F2B1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721" t="-1932" r="-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3BCDBF2-40DE-3BF3-1CB6-8AB8AE26EE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3950" y="1772444"/>
            <a:ext cx="5378450" cy="4033837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C0D7942-9888-C9E4-70F6-21CD33173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323F4B"/>
                </a:solidFill>
              </a:rPr>
              <a:t>Background: Differential Privacy (DP)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48514E-71FF-2ECA-D150-CE5E421010B7}"/>
              </a:ext>
            </a:extLst>
          </p:cNvPr>
          <p:cNvSpPr txBox="1"/>
          <p:nvPr/>
        </p:nvSpPr>
        <p:spPr>
          <a:xfrm>
            <a:off x="9906000" y="5806281"/>
            <a:ext cx="128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[Figure 1]</a:t>
            </a:r>
          </a:p>
        </p:txBody>
      </p:sp>
    </p:spTree>
    <p:extLst>
      <p:ext uri="{BB962C8B-B14F-4D97-AF65-F5344CB8AC3E}">
        <p14:creationId xmlns:p14="http://schemas.microsoft.com/office/powerpoint/2010/main" val="431802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image.png">
            <a:extLst>
              <a:ext uri="{FF2B5EF4-FFF2-40B4-BE49-F238E27FC236}">
                <a16:creationId xmlns:a16="http://schemas.microsoft.com/office/drawing/2014/main" id="{01C57771-BD26-8CDC-D38C-5CAC896A1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06" y="1608388"/>
            <a:ext cx="5286375" cy="4391359"/>
          </a:xfrm>
          <a:prstGeom prst="rect">
            <a:avLst/>
          </a:prstGeom>
        </p:spPr>
      </p:pic>
      <p:pic>
        <p:nvPicPr>
          <p:cNvPr id="8" name="Picture 1" descr="image.png">
            <a:extLst>
              <a:ext uri="{FF2B5EF4-FFF2-40B4-BE49-F238E27FC236}">
                <a16:creationId xmlns:a16="http://schemas.microsoft.com/office/drawing/2014/main" id="{6328EAEF-6000-6C2C-DFA3-6FB45FC52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08388"/>
            <a:ext cx="5286375" cy="43913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CF079FD-92AF-0C69-B4C2-9C826983A1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ctr"/>
                <a:r>
                  <a:rPr lang="en-US" b="1" dirty="0">
                    <a:solidFill>
                      <a:srgbClr val="00005A"/>
                    </a:solidFill>
                  </a:rPr>
                  <a:t>Composition Theorem</a:t>
                </a:r>
              </a:p>
              <a:p>
                <a:pPr algn="ctr"/>
                <a:r>
                  <a:rPr lang="en-US" dirty="0">
                    <a:solidFill>
                      <a:srgbClr val="323F4B"/>
                    </a:solidFill>
                  </a:rPr>
                  <a:t>If we run multiple differentially private analysis on the same data, their privacy guarantees accumulate.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de-DE" b="0" i="1" smtClean="0">
                              <a:solidFill>
                                <a:srgbClr val="323F4B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b="0" i="1" smtClean="0">
                              <a:solidFill>
                                <a:srgbClr val="323F4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de-DE" b="0" i="1" smtClean="0">
                                  <a:solidFill>
                                    <a:srgbClr val="323F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solidFill>
                                    <a:srgbClr val="323F4B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b="0" i="1" smtClean="0">
                                  <a:solidFill>
                                    <a:srgbClr val="323F4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de-DE" b="0" i="1" smtClean="0">
                          <a:solidFill>
                            <a:srgbClr val="323F4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solidFill>
                            <a:srgbClr val="323F4B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de-DE" b="0" dirty="0">
                  <a:solidFill>
                    <a:srgbClr val="323F4B"/>
                  </a:solidFill>
                </a:endParaRP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CF079FD-92AF-0C69-B4C2-9C826983A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t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2995D6-CB6A-7BE6-E243-6DD7D3E3DC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005A"/>
                </a:solidFill>
              </a:rPr>
              <a:t>Post </a:t>
            </a:r>
            <a:r>
              <a:rPr lang="en-US" b="1" dirty="0" err="1">
                <a:solidFill>
                  <a:srgbClr val="00005A"/>
                </a:solidFill>
              </a:rPr>
              <a:t>ProcessingTheorem</a:t>
            </a:r>
            <a:endParaRPr lang="en-US" b="1" dirty="0">
              <a:solidFill>
                <a:srgbClr val="00005A"/>
              </a:solidFill>
            </a:endParaRPr>
          </a:p>
          <a:p>
            <a:pPr algn="ctr"/>
            <a:r>
              <a:rPr lang="en-US" dirty="0">
                <a:solidFill>
                  <a:srgbClr val="323F4B"/>
                </a:solidFill>
              </a:rPr>
              <a:t>Once the data has been privatized, any further computation or transformation of the output preserves the original privacy guarantee.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35B1BF2-50BD-30BA-C9FB-F18D8845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5A"/>
                </a:solidFill>
              </a:rPr>
              <a:t>Background: DP Theorems</a:t>
            </a:r>
          </a:p>
        </p:txBody>
      </p:sp>
    </p:spTree>
    <p:extLst>
      <p:ext uri="{BB962C8B-B14F-4D97-AF65-F5344CB8AC3E}">
        <p14:creationId xmlns:p14="http://schemas.microsoft.com/office/powerpoint/2010/main" val="208410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 descr="image.png">
            <a:extLst>
              <a:ext uri="{FF2B5EF4-FFF2-40B4-BE49-F238E27FC236}">
                <a16:creationId xmlns:a16="http://schemas.microsoft.com/office/drawing/2014/main" id="{4111BEC9-A178-B995-89F3-4B33F5912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502" y="1591176"/>
            <a:ext cx="3492549" cy="3990975"/>
          </a:xfrm>
          <a:prstGeom prst="rect">
            <a:avLst/>
          </a:prstGeom>
        </p:spPr>
      </p:pic>
      <p:pic>
        <p:nvPicPr>
          <p:cNvPr id="11" name="Picture 1" descr="image.png">
            <a:extLst>
              <a:ext uri="{FF2B5EF4-FFF2-40B4-BE49-F238E27FC236}">
                <a16:creationId xmlns:a16="http://schemas.microsoft.com/office/drawing/2014/main" id="{E25A4459-ED43-8A65-6266-A4B6D1DD6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609" y="1591176"/>
            <a:ext cx="3492549" cy="3990975"/>
          </a:xfrm>
          <a:prstGeom prst="rect">
            <a:avLst/>
          </a:prstGeom>
        </p:spPr>
      </p:pic>
      <p:pic>
        <p:nvPicPr>
          <p:cNvPr id="7" name="Picture 1" descr="image.png">
            <a:extLst>
              <a:ext uri="{FF2B5EF4-FFF2-40B4-BE49-F238E27FC236}">
                <a16:creationId xmlns:a16="http://schemas.microsoft.com/office/drawing/2014/main" id="{9E66B514-68CA-8AB8-B967-BD67DCCAA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6" y="1591177"/>
            <a:ext cx="3492549" cy="39909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4885744-AF09-42B9-0FC9-E23F85C1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Background: Privacy Levels [12]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A9FFFA-E3B3-7BAC-91F0-ECF0851AE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329344" cy="4105275"/>
          </a:xfrm>
        </p:spPr>
        <p:txBody>
          <a:bodyPr/>
          <a:lstStyle/>
          <a:p>
            <a:pPr algn="ctr"/>
            <a:r>
              <a:rPr lang="en-US" b="1" u="sng" noProof="0" dirty="0"/>
              <a:t>Event Level</a:t>
            </a:r>
          </a:p>
          <a:p>
            <a:r>
              <a:rPr lang="en-US" noProof="0" dirty="0"/>
              <a:t>The weakest protection level. A user can plausibly deny the existence of one single event in the dataset, but trace linkages may remain exposed.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80CFD66-A90E-2FAD-06F3-F8088BFEC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329345" cy="4105275"/>
          </a:xfrm>
        </p:spPr>
        <p:txBody>
          <a:bodyPr/>
          <a:lstStyle/>
          <a:p>
            <a:pPr algn="ctr"/>
            <a:r>
              <a:rPr lang="en-US" b="1" u="sng" noProof="0" dirty="0"/>
              <a:t>User Level</a:t>
            </a:r>
          </a:p>
          <a:p>
            <a:r>
              <a:rPr lang="en-US" noProof="0" dirty="0"/>
              <a:t>The highest protection level. A user can plausibly deny all events or their total presence in the dataset. Hard to achieve on streams without high sensitivity.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02E2394-5496-759B-9AFC-CAD2431ED0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193965" cy="4105275"/>
          </a:xfrm>
        </p:spPr>
        <p:txBody>
          <a:bodyPr/>
          <a:lstStyle/>
          <a:p>
            <a:pPr algn="ctr"/>
            <a:r>
              <a:rPr lang="en-US" b="1" u="sng" noProof="0" dirty="0"/>
              <a:t>w-Event Level</a:t>
            </a:r>
            <a:endParaRPr lang="en-US" noProof="0" dirty="0"/>
          </a:p>
          <a:p>
            <a:r>
              <a:rPr lang="en-US" noProof="0" dirty="0"/>
              <a:t>Tailored for streaming contexts. Users can plausibly deny w consecutive events in the dataset.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30CABB-6A3A-2168-20C5-79B275989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926" y="4624635"/>
            <a:ext cx="489285" cy="6421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4849DA-CAD2-1B23-5086-6E8C4B50E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473" y="4636667"/>
            <a:ext cx="795196" cy="6301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DABC87-4D1F-C7F2-6039-E4C46EF98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2968" y="4636667"/>
            <a:ext cx="492183" cy="55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20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1DC8-15CE-F09B-FA32-D2FD5CA8E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1A795F-B926-752C-84D3-AC9330B4B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Methodology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F5A44A-1928-AF80-3B84-94A2CA0C63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Privacy-Preserving Discovery Pipeline</a:t>
            </a:r>
          </a:p>
        </p:txBody>
      </p:sp>
    </p:spTree>
    <p:extLst>
      <p:ext uri="{BB962C8B-B14F-4D97-AF65-F5344CB8AC3E}">
        <p14:creationId xmlns:p14="http://schemas.microsoft.com/office/powerpoint/2010/main" val="1899519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image.png">
            <a:extLst>
              <a:ext uri="{FF2B5EF4-FFF2-40B4-BE49-F238E27FC236}">
                <a16:creationId xmlns:a16="http://schemas.microsoft.com/office/drawing/2014/main" id="{21EB0EA5-636C-2770-9162-DC8790242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056" y="1736723"/>
            <a:ext cx="3492549" cy="3590925"/>
          </a:xfrm>
          <a:prstGeom prst="rect">
            <a:avLst/>
          </a:prstGeom>
        </p:spPr>
      </p:pic>
      <p:pic>
        <p:nvPicPr>
          <p:cNvPr id="9" name="Picture 1" descr="image.png">
            <a:extLst>
              <a:ext uri="{FF2B5EF4-FFF2-40B4-BE49-F238E27FC236}">
                <a16:creationId xmlns:a16="http://schemas.microsoft.com/office/drawing/2014/main" id="{AF07FCBF-04D2-9FC7-15AE-9171B2234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606" y="1736724"/>
            <a:ext cx="3492549" cy="3590925"/>
          </a:xfrm>
          <a:prstGeom prst="rect">
            <a:avLst/>
          </a:prstGeom>
        </p:spPr>
      </p:pic>
      <p:pic>
        <p:nvPicPr>
          <p:cNvPr id="7" name="Picture 1" descr="image.png">
            <a:extLst>
              <a:ext uri="{FF2B5EF4-FFF2-40B4-BE49-F238E27FC236}">
                <a16:creationId xmlns:a16="http://schemas.microsoft.com/office/drawing/2014/main" id="{9ABFA4F8-AAC5-EB77-7D34-32C64D3F6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6724"/>
            <a:ext cx="3492549" cy="35909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8361410-A55C-3E89-F8A3-E547A5B4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Methodology: Primary Research Goals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C60BCA-A1B4-0B39-EED2-273F53846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376863" cy="4105275"/>
          </a:xfrm>
        </p:spPr>
        <p:txBody>
          <a:bodyPr/>
          <a:lstStyle/>
          <a:p>
            <a:endParaRPr lang="en-US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Finite Memory Usage</a:t>
            </a:r>
          </a:p>
          <a:p>
            <a:pPr algn="ctr"/>
            <a:r>
              <a:rPr lang="en-US" noProof="0" dirty="0">
                <a:solidFill>
                  <a:srgbClr val="323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the discovery algorithm can continuously invest data streams without exceeding strict memory bounds.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A79911-17D4-13A2-CEFA-4795693A9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3874" y="1736725"/>
            <a:ext cx="3196390" cy="4105275"/>
          </a:xfrm>
        </p:spPr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pPr algn="ctr"/>
            <a:r>
              <a:rPr lang="en-US" b="1" noProof="0" dirty="0">
                <a:solidFill>
                  <a:srgbClr val="00005A"/>
                </a:solidFill>
              </a:rPr>
              <a:t>User Level Privacy</a:t>
            </a:r>
          </a:p>
          <a:p>
            <a:pPr algn="ctr"/>
            <a:r>
              <a:rPr lang="en-US" noProof="0" dirty="0">
                <a:solidFill>
                  <a:srgbClr val="323F4B"/>
                </a:solidFill>
              </a:rPr>
              <a:t>Protect entire traces (users) with differential privacy.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F013819-C565-2BF2-4BC2-C43CF104E7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165946" y="1736724"/>
            <a:ext cx="3272075" cy="4105275"/>
          </a:xfrm>
        </p:spPr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pPr algn="ctr"/>
            <a:r>
              <a:rPr lang="en-US" b="1" noProof="0" dirty="0">
                <a:solidFill>
                  <a:srgbClr val="00005A"/>
                </a:solidFill>
              </a:rPr>
              <a:t>Real Time Application</a:t>
            </a:r>
          </a:p>
          <a:p>
            <a:pPr algn="ctr"/>
            <a:r>
              <a:rPr lang="en-US" noProof="0" dirty="0" err="1">
                <a:solidFill>
                  <a:srgbClr val="323F4B"/>
                </a:solidFill>
              </a:rPr>
              <a:t>Develope</a:t>
            </a:r>
            <a:r>
              <a:rPr lang="en-US" noProof="0" dirty="0">
                <a:solidFill>
                  <a:srgbClr val="323F4B"/>
                </a:solidFill>
              </a:rPr>
              <a:t> an architecture capable of dynamically publishing accurate process models. </a:t>
            </a:r>
          </a:p>
        </p:txBody>
      </p:sp>
    </p:spTree>
    <p:extLst>
      <p:ext uri="{BB962C8B-B14F-4D97-AF65-F5344CB8AC3E}">
        <p14:creationId xmlns:p14="http://schemas.microsoft.com/office/powerpoint/2010/main" val="2412193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73E978-BA2E-06F0-7527-82FD240A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9AD757D-9151-7659-C698-7EA33A85C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595" y="1736725"/>
            <a:ext cx="9046809" cy="410527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8A388F3-44A5-E140-BF64-DD57908D5842}"/>
              </a:ext>
            </a:extLst>
          </p:cNvPr>
          <p:cNvSpPr txBox="1"/>
          <p:nvPr/>
        </p:nvSpPr>
        <p:spPr>
          <a:xfrm>
            <a:off x="8871284" y="5534223"/>
            <a:ext cx="3088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5A"/>
                </a:solidFill>
              </a:rPr>
              <a:t>own </a:t>
            </a:r>
            <a:r>
              <a:rPr lang="de-DE" sz="1400" dirty="0" err="1">
                <a:solidFill>
                  <a:srgbClr val="00005A"/>
                </a:solidFill>
              </a:rPr>
              <a:t>representation</a:t>
            </a:r>
            <a:r>
              <a:rPr lang="de-DE" sz="1400" dirty="0">
                <a:solidFill>
                  <a:srgbClr val="00005A"/>
                </a:solidFill>
              </a:rPr>
              <a:t>, AI generated</a:t>
            </a:r>
          </a:p>
        </p:txBody>
      </p:sp>
    </p:spTree>
    <p:extLst>
      <p:ext uri="{BB962C8B-B14F-4D97-AF65-F5344CB8AC3E}">
        <p14:creationId xmlns:p14="http://schemas.microsoft.com/office/powerpoint/2010/main" val="485936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image.png">
            <a:extLst>
              <a:ext uri="{FF2B5EF4-FFF2-40B4-BE49-F238E27FC236}">
                <a16:creationId xmlns:a16="http://schemas.microsoft.com/office/drawing/2014/main" id="{D9AEFD8E-F0FF-5A1A-E95A-B257C430E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" y="1412959"/>
            <a:ext cx="11059886" cy="460959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4D539FD-D4A2-A8DA-6C5C-8A7D5E94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5A"/>
                </a:solidFill>
              </a:rPr>
              <a:t>Pipeline: Sliding Window &amp; Bloom Filter Gating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CD61FE-54D7-607B-B941-063635FD9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5A"/>
                </a:solidFill>
              </a:rPr>
              <a:t>Goal</a:t>
            </a:r>
            <a:r>
              <a:rPr lang="en-US" dirty="0">
                <a:solidFill>
                  <a:srgbClr val="323F4B"/>
                </a:solidFill>
              </a:rPr>
              <a:t>: User Level Privacy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Users can contribute arbitrary events to any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Problem: Budget distributed over infinite publications lead to a nonexistent privacy guarantee</a:t>
            </a:r>
          </a:p>
          <a:p>
            <a:endParaRPr lang="en-US" dirty="0">
              <a:solidFill>
                <a:srgbClr val="323F4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23F4B"/>
                </a:solidFill>
              </a:rPr>
              <a:t>Apply budget to Sliding window (w-Event privacy [12])</a:t>
            </a:r>
          </a:p>
          <a:p>
            <a:endParaRPr lang="en-US" dirty="0">
              <a:solidFill>
                <a:srgbClr val="323F4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23F4B"/>
                </a:solidFill>
              </a:rPr>
              <a:t>Limit user influence on one sliding window of w events using Bloom Filters[3]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216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3D5D-01C9-33D4-68D2-32A8E307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image.png">
            <a:extLst>
              <a:ext uri="{FF2B5EF4-FFF2-40B4-BE49-F238E27FC236}">
                <a16:creationId xmlns:a16="http://schemas.microsoft.com/office/drawing/2014/main" id="{1807AD18-673C-2ADF-0A55-E2A068B9C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85" y="1430254"/>
            <a:ext cx="5378449" cy="4302864"/>
          </a:xfrm>
          <a:prstGeom prst="rect">
            <a:avLst/>
          </a:prstGeom>
        </p:spPr>
      </p:pic>
      <p:pic>
        <p:nvPicPr>
          <p:cNvPr id="6" name="Picture 1" descr="image.png">
            <a:extLst>
              <a:ext uri="{FF2B5EF4-FFF2-40B4-BE49-F238E27FC236}">
                <a16:creationId xmlns:a16="http://schemas.microsoft.com/office/drawing/2014/main" id="{6E0AAB9C-6C87-A705-CAD2-021A965B0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6" y="1430254"/>
            <a:ext cx="5378449" cy="43028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A5406007-E68E-A694-3880-E4CAE472B1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914400" y="1736725"/>
                <a:ext cx="4812632" cy="4105275"/>
              </a:xfrm>
            </p:spPr>
            <p:txBody>
              <a:bodyPr/>
              <a:lstStyle/>
              <a:p>
                <a:pPr marL="457200" indent="-457200" algn="ctr">
                  <a:buFont typeface="+mj-lt"/>
                  <a:buAutoNum type="arabicPeriod"/>
                </a:pPr>
                <a:r>
                  <a:rPr lang="en-US" b="1" noProof="0" dirty="0">
                    <a:solidFill>
                      <a:srgbClr val="00005A"/>
                    </a:solidFill>
                  </a:rPr>
                  <a:t>Case Frequency [15]</a:t>
                </a:r>
              </a:p>
              <a:p>
                <a:r>
                  <a:rPr lang="en-US" noProof="0" dirty="0">
                    <a:solidFill>
                      <a:srgbClr val="323F4B"/>
                    </a:solidFill>
                  </a:rPr>
                  <a:t>Instead of counting every event appearance (Event Frequency), we use binary counting per edge. A user can influence a specific edge counter at most once.</a:t>
                </a:r>
              </a:p>
              <a:p>
                <a:endParaRPr lang="en-US" noProof="0" dirty="0"/>
              </a:p>
              <a:p>
                <a:r>
                  <a:rPr lang="en-US" noProof="0" dirty="0">
                    <a:solidFill>
                      <a:srgbClr val="323F4B"/>
                    </a:solidFill>
                  </a:rPr>
                  <a:t>This limits a user’s total maximum influence across all possible unique graph transitions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noProof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noProof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b="0" i="1" noProof="0" smtClean="0">
                        <a:solidFill>
                          <a:srgbClr val="323F4B"/>
                        </a:solidFill>
                        <a:latin typeface="Cambria Math" panose="02040503050406030204" pitchFamily="18" charset="0"/>
                      </a:rPr>
                      <m:t>+ 2</m:t>
                    </m:r>
                    <m:r>
                      <a:rPr lang="en-US" i="1" noProof="0">
                        <a:solidFill>
                          <a:srgbClr val="323F4B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noProof="0" dirty="0">
                    <a:solidFill>
                      <a:srgbClr val="323F4B"/>
                    </a:solidFill>
                  </a:rPr>
                  <a:t> (where </a:t>
                </a:r>
                <a14:m>
                  <m:oMath xmlns:m="http://schemas.openxmlformats.org/officeDocument/2006/math">
                    <m:r>
                      <a:rPr lang="en-US" i="1" noProof="0">
                        <a:solidFill>
                          <a:srgbClr val="323F4B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noProof="0" dirty="0">
                    <a:solidFill>
                      <a:srgbClr val="323F4B"/>
                    </a:solidFill>
                  </a:rPr>
                  <a:t> is unique activities).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A5406007-E68E-A694-3880-E4CAE472B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914400" y="1736725"/>
                <a:ext cx="4812632" cy="4105275"/>
              </a:xfrm>
              <a:blipFill>
                <a:blip r:embed="rId4"/>
                <a:stretch>
                  <a:fillRect l="-3169" t="-3120" r="-3676" b="-22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291BE6F-68AB-1A65-3211-713D314EF1F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464968" y="1736725"/>
                <a:ext cx="4812632" cy="4105275"/>
              </a:xfrm>
            </p:spPr>
            <p:txBody>
              <a:bodyPr/>
              <a:lstStyle/>
              <a:p>
                <a:pPr marL="457200" indent="-457200" algn="ctr">
                  <a:buFont typeface="+mj-lt"/>
                  <a:buAutoNum type="arabicPeriod" startAt="2"/>
                </a:pPr>
                <a:r>
                  <a:rPr lang="en-US" b="1" noProof="0" dirty="0">
                    <a:solidFill>
                      <a:srgbClr val="00005A"/>
                    </a:solidFill>
                  </a:rPr>
                  <a:t>Trace Truncation</a:t>
                </a:r>
              </a:p>
              <a:p>
                <a:r>
                  <a:rPr lang="en-US" noProof="0" dirty="0">
                    <a:solidFill>
                      <a:srgbClr val="323F4B"/>
                    </a:solidFill>
                  </a:rPr>
                  <a:t>We restrict  the length of any individual case within the active window to exactly </a:t>
                </a:r>
                <a14:m>
                  <m:oMath xmlns:m="http://schemas.openxmlformats.org/officeDocument/2006/math">
                    <m:r>
                      <a:rPr lang="en-US" i="1" noProof="0">
                        <a:solidFill>
                          <a:srgbClr val="323F4B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noProof="0" dirty="0">
                    <a:solidFill>
                      <a:srgbClr val="323F4B"/>
                    </a:solidFill>
                  </a:rPr>
                  <a:t> events.</a:t>
                </a:r>
              </a:p>
              <a:p>
                <a:r>
                  <a:rPr lang="en-US" noProof="0" dirty="0">
                    <a:solidFill>
                      <a:srgbClr val="323F4B"/>
                    </a:solidFill>
                  </a:rPr>
                  <a:t>A trace with </a:t>
                </a:r>
                <a14:m>
                  <m:oMath xmlns:m="http://schemas.openxmlformats.org/officeDocument/2006/math">
                    <m:r>
                      <a:rPr lang="en-US" i="1" noProof="0">
                        <a:solidFill>
                          <a:srgbClr val="323F4B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noProof="0" dirty="0">
                    <a:solidFill>
                      <a:srgbClr val="323F4B"/>
                    </a:solidFill>
                  </a:rPr>
                  <a:t> events can only update a maximum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rgbClr val="323F4B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noProof="0" smtClean="0">
                        <a:solidFill>
                          <a:srgbClr val="323F4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b="0" noProof="0" dirty="0">
                    <a:solidFill>
                      <a:srgbClr val="323F4B"/>
                    </a:solidFill>
                  </a:rPr>
                  <a:t> counters. </a:t>
                </a:r>
              </a:p>
              <a:p>
                <a:r>
                  <a:rPr lang="en-US" noProof="0" dirty="0">
                    <a:solidFill>
                      <a:srgbClr val="323F4B"/>
                    </a:solidFill>
                  </a:rPr>
                  <a:t>This reduces global </a:t>
                </a:r>
                <a:r>
                  <a:rPr lang="en-US" noProof="0" dirty="0">
                    <a:solidFill>
                      <a:srgbClr val="323F4B"/>
                    </a:solidFill>
                    <a:latin typeface="Open Sans"/>
                  </a:rPr>
                  <a:t>sensitivity</a:t>
                </a:r>
                <a:r>
                  <a:rPr lang="en-US" noProof="0" dirty="0">
                    <a:solidFill>
                      <a:srgbClr val="323F4B"/>
                    </a:solidFill>
                  </a:rPr>
                  <a:t> to:</a:t>
                </a:r>
              </a:p>
              <a:p>
                <a:endParaRPr lang="en-US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800" i="1" noProof="0" smtClean="0">
                          <a:solidFill>
                            <a:srgbClr val="00005A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800" i="1" noProof="0" smtClean="0">
                          <a:solidFill>
                            <a:srgbClr val="00005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noProof="0" smtClean="0">
                          <a:solidFill>
                            <a:srgbClr val="00005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noProof="0">
                              <a:solidFill>
                                <a:srgbClr val="00005A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1" noProof="0">
                              <a:solidFill>
                                <a:srgbClr val="00005A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US" sz="2800" i="1" noProof="0">
                              <a:solidFill>
                                <a:srgbClr val="00005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fName>
                        <m:e>
                          <m:sSup>
                            <m:sSupPr>
                              <m:ctrlPr>
                                <a:rPr lang="en-US" sz="2800" i="1" noProof="0">
                                  <a:solidFill>
                                    <a:srgbClr val="00005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noProof="0">
                                  <a:solidFill>
                                    <a:srgbClr val="00005A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800" i="1" noProof="0">
                                  <a:solidFill>
                                    <a:srgbClr val="00005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800" b="0" i="1" noProof="0" smtClean="0">
                              <a:solidFill>
                                <a:srgbClr val="00005A"/>
                              </a:solidFill>
                              <a:latin typeface="Cambria Math" panose="02040503050406030204" pitchFamily="18" charset="0"/>
                            </a:rPr>
                            <m:t>+ 2</m:t>
                          </m:r>
                          <m:r>
                            <a:rPr lang="en-US" sz="2800" i="1" noProof="0">
                              <a:solidFill>
                                <a:srgbClr val="00005A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r>
                        <a:rPr lang="en-US" sz="2800" i="1" noProof="0">
                          <a:solidFill>
                            <a:srgbClr val="00005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noProof="0">
                          <a:solidFill>
                            <a:srgbClr val="00005A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800" i="1" noProof="0">
                          <a:solidFill>
                            <a:srgbClr val="00005A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sz="2800" noProof="0" dirty="0">
                  <a:solidFill>
                    <a:srgbClr val="00005A"/>
                  </a:solidFill>
                </a:endParaRPr>
              </a:p>
              <a:p>
                <a:endParaRPr lang="en-US" b="0" noProof="0" dirty="0"/>
              </a:p>
              <a:p>
                <a:r>
                  <a:rPr lang="en-US" noProof="0" dirty="0"/>
                  <a:t> 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291BE6F-68AB-1A65-3211-713D314EF1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64968" y="1736725"/>
                <a:ext cx="4812632" cy="4105275"/>
              </a:xfrm>
              <a:blipFill>
                <a:blip r:embed="rId5"/>
                <a:stretch>
                  <a:fillRect l="-3295" t="-3120" r="-354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>
            <a:extLst>
              <a:ext uri="{FF2B5EF4-FFF2-40B4-BE49-F238E27FC236}">
                <a16:creationId xmlns:a16="http://schemas.microsoft.com/office/drawing/2014/main" id="{090334CB-100C-A758-5B76-0A32B763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00005A"/>
                </a:solidFill>
              </a:rPr>
              <a:t>Methodology: Sensitivity Bounding  </a:t>
            </a:r>
          </a:p>
        </p:txBody>
      </p:sp>
    </p:spTree>
    <p:extLst>
      <p:ext uri="{BB962C8B-B14F-4D97-AF65-F5344CB8AC3E}">
        <p14:creationId xmlns:p14="http://schemas.microsoft.com/office/powerpoint/2010/main" val="3894251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" descr="image.png">
            <a:extLst>
              <a:ext uri="{FF2B5EF4-FFF2-40B4-BE49-F238E27FC236}">
                <a16:creationId xmlns:a16="http://schemas.microsoft.com/office/drawing/2014/main" id="{E4598580-5EAC-E9B2-442E-FD8DDC12D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08" y="1133474"/>
            <a:ext cx="10972799" cy="499723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C08AA94-891E-DE1E-DBCD-55555B47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00005A"/>
                </a:solidFill>
              </a:rPr>
              <a:t>Methodology: Noise &amp; Dynamic Budget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89FF1B-B059-8FDD-9B3F-264ECDA09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  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3C4C7D1-FF26-8B67-FC7A-BAEE093929E2}"/>
              </a:ext>
            </a:extLst>
          </p:cNvPr>
          <p:cNvSpPr txBox="1"/>
          <p:nvPr/>
        </p:nvSpPr>
        <p:spPr>
          <a:xfrm>
            <a:off x="1238250" y="1501378"/>
            <a:ext cx="10191750" cy="588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00305E"/>
                </a:solidFill>
                <a:latin typeface="Open Sans"/>
              </a:rPr>
              <a:t>Laplace Mechanism Injection [9]:</a:t>
            </a:r>
            <a:r>
              <a:rPr lang="en-US" sz="1500" b="0" i="0" u="none" noProof="0" dirty="0">
                <a:solidFill>
                  <a:srgbClr val="374151"/>
                </a:solidFill>
                <a:latin typeface="Open Sans"/>
              </a:rPr>
              <a:t> At each publication point, independently calibrated Laplace Noise is injected into the DFG Case Frequency Counters to securely mask individual traces.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2B0FFB9D-DE7E-A563-961F-9CE885E2CAF6}"/>
              </a:ext>
            </a:extLst>
          </p:cNvPr>
          <p:cNvSpPr txBox="1"/>
          <p:nvPr/>
        </p:nvSpPr>
        <p:spPr>
          <a:xfrm>
            <a:off x="1238250" y="2731889"/>
            <a:ext cx="10191750" cy="588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00305E"/>
                </a:solidFill>
                <a:latin typeface="Open Sans"/>
              </a:rPr>
              <a:t>Dynamic Budget Reclamation [12]:</a:t>
            </a:r>
            <a:r>
              <a:rPr lang="en-US" sz="1500" b="0" i="0" u="none" noProof="0" dirty="0">
                <a:solidFill>
                  <a:srgbClr val="374151"/>
                </a:solidFill>
                <a:latin typeface="Open Sans"/>
              </a:rPr>
              <a:t> Applying standard sequential composition would rapidly exhaust the privacy budget over an infinite stream. Instead, budget is distributed as a fraction of the </a:t>
            </a:r>
            <a:r>
              <a:rPr lang="en-US" sz="1500" b="0" i="1" u="none" noProof="0" dirty="0">
                <a:solidFill>
                  <a:srgbClr val="374151"/>
                </a:solidFill>
                <a:latin typeface="Open Sans"/>
              </a:rPr>
              <a:t>remaining</a:t>
            </a:r>
            <a:r>
              <a:rPr lang="en-US" sz="1500" b="0" i="0" u="none" noProof="0" dirty="0">
                <a:solidFill>
                  <a:srgbClr val="374151"/>
                </a:solidFill>
                <a:latin typeface="Open Sans"/>
              </a:rPr>
              <a:t> budget.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87D8209-014C-C2D4-DF58-E40E81FBB660}"/>
              </a:ext>
            </a:extLst>
          </p:cNvPr>
          <p:cNvSpPr txBox="1"/>
          <p:nvPr/>
        </p:nvSpPr>
        <p:spPr>
          <a:xfrm>
            <a:off x="1238250" y="3962400"/>
            <a:ext cx="10191750" cy="588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00305E"/>
                </a:solidFill>
                <a:latin typeface="Open Sans"/>
              </a:rPr>
              <a:t>The Budget Lifecycle [12]:</a:t>
            </a:r>
            <a:r>
              <a:rPr lang="en-US" sz="1500" b="0" i="0" u="none" noProof="0" dirty="0">
                <a:solidFill>
                  <a:srgbClr val="374151"/>
                </a:solidFill>
                <a:latin typeface="Open Sans"/>
              </a:rPr>
              <a:t> Consumed budget is mathematically tied to the newest window elements. As those events age and are subsequently evicted from the sliding window, the associated budget is actively reclaimed.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1E8C7A12-1790-6C7D-9B46-97F91666521B}"/>
              </a:ext>
            </a:extLst>
          </p:cNvPr>
          <p:cNvSpPr txBox="1"/>
          <p:nvPr/>
        </p:nvSpPr>
        <p:spPr>
          <a:xfrm>
            <a:off x="1238250" y="5192910"/>
            <a:ext cx="10191750" cy="588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00305E"/>
                </a:solidFill>
                <a:latin typeface="Open Sans"/>
              </a:rPr>
              <a:t>Publication Modes:</a:t>
            </a:r>
            <a:r>
              <a:rPr lang="en-US" sz="1500" b="0" i="0" u="none" noProof="0" dirty="0">
                <a:solidFill>
                  <a:srgbClr val="374151"/>
                </a:solidFill>
                <a:latin typeface="Open Sans"/>
              </a:rPr>
              <a:t> Publications can be triggered via Event-Count Based (ECB) thresholds for stable noise, or Time Based (TB) schedules mirroring strict real-time operational needs.</a:t>
            </a:r>
          </a:p>
        </p:txBody>
      </p:sp>
      <p:pic>
        <p:nvPicPr>
          <p:cNvPr id="13" name="Picture 6" descr="image.png">
            <a:extLst>
              <a:ext uri="{FF2B5EF4-FFF2-40B4-BE49-F238E27FC236}">
                <a16:creationId xmlns:a16="http://schemas.microsoft.com/office/drawing/2014/main" id="{82BE568B-C61B-02F5-14EF-5E6E2DE49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515665"/>
            <a:ext cx="266700" cy="276225"/>
          </a:xfrm>
          <a:prstGeom prst="rect">
            <a:avLst/>
          </a:prstGeom>
        </p:spPr>
      </p:pic>
      <p:pic>
        <p:nvPicPr>
          <p:cNvPr id="15" name="Picture 7" descr="image.png">
            <a:extLst>
              <a:ext uri="{FF2B5EF4-FFF2-40B4-BE49-F238E27FC236}">
                <a16:creationId xmlns:a16="http://schemas.microsoft.com/office/drawing/2014/main" id="{D450FB69-8149-F35C-4BAB-266F43E14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746176"/>
            <a:ext cx="333375" cy="276225"/>
          </a:xfrm>
          <a:prstGeom prst="rect">
            <a:avLst/>
          </a:prstGeom>
        </p:spPr>
      </p:pic>
      <p:pic>
        <p:nvPicPr>
          <p:cNvPr id="17" name="Picture 8" descr="image.png">
            <a:extLst>
              <a:ext uri="{FF2B5EF4-FFF2-40B4-BE49-F238E27FC236}">
                <a16:creationId xmlns:a16="http://schemas.microsoft.com/office/drawing/2014/main" id="{B96B4F25-EC56-BE60-65B6-E1741B2AC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976687"/>
            <a:ext cx="266700" cy="276225"/>
          </a:xfrm>
          <a:prstGeom prst="rect">
            <a:avLst/>
          </a:prstGeom>
        </p:spPr>
      </p:pic>
      <p:pic>
        <p:nvPicPr>
          <p:cNvPr id="19" name="Picture 9" descr="image.png">
            <a:extLst>
              <a:ext uri="{FF2B5EF4-FFF2-40B4-BE49-F238E27FC236}">
                <a16:creationId xmlns:a16="http://schemas.microsoft.com/office/drawing/2014/main" id="{29B379FA-CEFB-75E2-069C-6C0F8283A6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207198"/>
            <a:ext cx="2667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74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4872B4-4CAB-5CC2-E718-BE4977FC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6E6F502-D15D-E713-3345-A67CD0EFECBD}"/>
              </a:ext>
            </a:extLst>
          </p:cNvPr>
          <p:cNvSpPr txBox="1"/>
          <p:nvPr/>
        </p:nvSpPr>
        <p:spPr>
          <a:xfrm>
            <a:off x="8942173" y="6299298"/>
            <a:ext cx="30191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5A"/>
                </a:solidFill>
              </a:rPr>
              <a:t>own </a:t>
            </a:r>
            <a:r>
              <a:rPr lang="de-DE" sz="1400" dirty="0" err="1">
                <a:solidFill>
                  <a:srgbClr val="00005A"/>
                </a:solidFill>
              </a:rPr>
              <a:t>representation</a:t>
            </a:r>
            <a:r>
              <a:rPr lang="de-DE" sz="1400" dirty="0">
                <a:solidFill>
                  <a:srgbClr val="00005A"/>
                </a:solidFill>
              </a:rPr>
              <a:t>, AI generated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05B404E7-D29F-33E7-F38C-F8FDF27D8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124527"/>
            <a:ext cx="9258300" cy="587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18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1153-35FA-680C-9F88-CF62C1840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08ACD4-6075-0A7A-FDB4-06080DDC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1B211FB-7FA7-A8CE-3C28-F5A921434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595" y="1736725"/>
            <a:ext cx="9046809" cy="410527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703BD07-DCF4-1296-CE21-C2E86B551D8C}"/>
              </a:ext>
            </a:extLst>
          </p:cNvPr>
          <p:cNvSpPr txBox="1"/>
          <p:nvPr/>
        </p:nvSpPr>
        <p:spPr>
          <a:xfrm>
            <a:off x="9055768" y="5534223"/>
            <a:ext cx="19603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5A"/>
                </a:solidFill>
              </a:rPr>
              <a:t>own </a:t>
            </a:r>
            <a:r>
              <a:rPr lang="de-DE" sz="1400" dirty="0" err="1">
                <a:solidFill>
                  <a:srgbClr val="00005A"/>
                </a:solidFill>
              </a:rPr>
              <a:t>representation</a:t>
            </a:r>
            <a:r>
              <a:rPr lang="de-DE" sz="1400" dirty="0">
                <a:solidFill>
                  <a:srgbClr val="00005A"/>
                </a:solidFill>
              </a:rPr>
              <a:t>, AI generated</a:t>
            </a:r>
          </a:p>
        </p:txBody>
      </p:sp>
    </p:spTree>
    <p:extLst>
      <p:ext uri="{BB962C8B-B14F-4D97-AF65-F5344CB8AC3E}">
        <p14:creationId xmlns:p14="http://schemas.microsoft.com/office/powerpoint/2010/main" val="1092041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3E5F30-10FB-78A1-8E28-B3D90F93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Experimental Setup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7F37D8-1AE6-D01A-5213-F3BDD6E3B4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9657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image.png">
            <a:extLst>
              <a:ext uri="{FF2B5EF4-FFF2-40B4-BE49-F238E27FC236}">
                <a16:creationId xmlns:a16="http://schemas.microsoft.com/office/drawing/2014/main" id="{4B543670-5882-BAB7-C847-22B61462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1412959"/>
            <a:ext cx="11059886" cy="476740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2F44F50-2037-88AD-B518-EBB4460E4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5A"/>
                </a:solidFill>
              </a:rPr>
              <a:t>Experimental Setup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1E6706-8A6C-CC2E-3E96-9D1478AFA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Pm4Py[2]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Evaluation Pipeline </a:t>
            </a:r>
          </a:p>
          <a:p>
            <a:pPr marL="576263" lvl="2" indent="-342900"/>
            <a:r>
              <a:rPr lang="en-US" dirty="0">
                <a:solidFill>
                  <a:srgbClr val="323F4B"/>
                </a:solidFill>
              </a:rPr>
              <a:t>Simulate stream with real world event logs</a:t>
            </a:r>
          </a:p>
          <a:p>
            <a:pPr marL="576263" lvl="2" indent="-342900"/>
            <a:r>
              <a:rPr lang="en-US" dirty="0">
                <a:solidFill>
                  <a:srgbClr val="323F4B"/>
                </a:solidFill>
              </a:rPr>
              <a:t>Compare private window miner to non private baseline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4 observed Event Logs</a:t>
            </a:r>
          </a:p>
          <a:p>
            <a:pPr marL="576263" lvl="2" indent="-342900"/>
            <a:r>
              <a:rPr lang="en-US" dirty="0">
                <a:solidFill>
                  <a:srgbClr val="323F4B"/>
                </a:solidFill>
              </a:rPr>
              <a:t>Sepsis [13]</a:t>
            </a:r>
          </a:p>
          <a:p>
            <a:pPr marL="576263" lvl="2" indent="-342900"/>
            <a:r>
              <a:rPr lang="en-US" dirty="0">
                <a:solidFill>
                  <a:srgbClr val="323F4B"/>
                </a:solidFill>
              </a:rPr>
              <a:t>BPIC 2012 [7] </a:t>
            </a:r>
          </a:p>
          <a:p>
            <a:pPr marL="576263" lvl="2" indent="-342900"/>
            <a:r>
              <a:rPr lang="en-US" dirty="0">
                <a:solidFill>
                  <a:srgbClr val="323F4B"/>
                </a:solidFill>
              </a:rPr>
              <a:t>BPIC 2020 [8] </a:t>
            </a:r>
          </a:p>
          <a:p>
            <a:pPr marL="576263" lvl="2" indent="-342900"/>
            <a:r>
              <a:rPr lang="en-US" dirty="0">
                <a:solidFill>
                  <a:srgbClr val="323F4B"/>
                </a:solidFill>
              </a:rPr>
              <a:t>Environmental Permit [4]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Petri Net Quality (Inductive/Heuristic) [1,16]: F1 score (harmonic mean of Fitness and Precision)</a:t>
            </a:r>
          </a:p>
          <a:p>
            <a:pPr marL="576263" lvl="2" indent="-342900">
              <a:buFont typeface="Wingdings" panose="05000000000000000000" pitchFamily="2" charset="2"/>
              <a:buChar char="§"/>
            </a:pPr>
            <a:endParaRPr lang="en-US" dirty="0">
              <a:solidFill>
                <a:srgbClr val="323F4B"/>
              </a:solidFill>
            </a:endParaRPr>
          </a:p>
          <a:p>
            <a:pPr marL="576263" lvl="2" indent="-342900">
              <a:buFont typeface="Wingdings" panose="05000000000000000000" pitchFamily="2" charset="2"/>
              <a:buChar char="§"/>
            </a:pPr>
            <a:endParaRPr lang="en-US" dirty="0">
              <a:solidFill>
                <a:srgbClr val="323F4B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578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0ADE0-59CD-30B2-0E79-1937FACD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7484C4-3457-2C02-0FF8-9D009315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B4EBF8-19DB-63BD-2E32-14C9D1ADC6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7716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A7509E-A9D5-A00F-51D5-8709C21E3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 Windowed DP – F1 scores over Stream Progress; TB mode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B2199A7-283A-FB78-A86E-54C443867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95539"/>
            <a:ext cx="10667999" cy="504681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C99BCAF-A55A-9381-B060-394528D46D62}"/>
              </a:ext>
            </a:extLst>
          </p:cNvPr>
          <p:cNvSpPr txBox="1"/>
          <p:nvPr/>
        </p:nvSpPr>
        <p:spPr>
          <a:xfrm>
            <a:off x="9713495" y="5934578"/>
            <a:ext cx="19603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5A"/>
                </a:solidFill>
              </a:rPr>
              <a:t>own </a:t>
            </a:r>
            <a:r>
              <a:rPr lang="de-DE" sz="1400" dirty="0" err="1">
                <a:solidFill>
                  <a:srgbClr val="00005A"/>
                </a:solidFill>
              </a:rPr>
              <a:t>representation</a:t>
            </a:r>
            <a:endParaRPr lang="de-DE" sz="1400" dirty="0">
              <a:solidFill>
                <a:srgbClr val="0000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400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6C160D-93D1-A578-7C97-2222671EE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17A4B65D-B648-5336-07AC-513CC7114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33224"/>
            <a:ext cx="8365958" cy="494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13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5E9B2A-80B7-FA58-3C35-C21A4645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  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8A15AB8F-99F5-430C-8B98-9FCE61E27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15864"/>
            <a:ext cx="12192000" cy="395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202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image.png">
            <a:extLst>
              <a:ext uri="{FF2B5EF4-FFF2-40B4-BE49-F238E27FC236}">
                <a16:creationId xmlns:a16="http://schemas.microsoft.com/office/drawing/2014/main" id="{53489860-53A3-11FF-D0D4-2EEF1139A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06" y="1608388"/>
            <a:ext cx="10972800" cy="43913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BB1E5F1-CB7D-00B7-A8A9-4E8CEE25F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5A"/>
                </a:solidFill>
              </a:rPr>
              <a:t>Evaluation Results: Time Based Mode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B84834-38B2-9117-077A-AF28E1A0A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Strong fluctuations of F1 score for the private window miner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IM sometimes struggles in providing a model / HM nearly always provide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IM often reaches baseline level / HM stays behind its baseline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Choosing best </a:t>
            </a:r>
            <a:r>
              <a:rPr lang="en-US" dirty="0" err="1">
                <a:solidFill>
                  <a:srgbClr val="323F4B"/>
                </a:solidFill>
              </a:rPr>
              <a:t>paramters</a:t>
            </a:r>
            <a:r>
              <a:rPr lang="en-US" dirty="0">
                <a:solidFill>
                  <a:srgbClr val="323F4B"/>
                </a:solidFill>
              </a:rPr>
              <a:t> w, L and publishing frequency requires domain knowledge</a:t>
            </a:r>
          </a:p>
        </p:txBody>
      </p:sp>
    </p:spTree>
    <p:extLst>
      <p:ext uri="{BB962C8B-B14F-4D97-AF65-F5344CB8AC3E}">
        <p14:creationId xmlns:p14="http://schemas.microsoft.com/office/powerpoint/2010/main" val="3466741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CF3C-5CE3-5485-61A0-D0952A2A9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C53EF-369E-7DF6-EAE4-E5B8B6635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4B3A33-6B75-02BF-CD57-DD2B15DEC4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7138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image.png">
            <a:extLst>
              <a:ext uri="{FF2B5EF4-FFF2-40B4-BE49-F238E27FC236}">
                <a16:creationId xmlns:a16="http://schemas.microsoft.com/office/drawing/2014/main" id="{AA976AB3-816C-60DE-4EE6-35DF932AF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29" y="1910908"/>
            <a:ext cx="11123339" cy="375690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5B968D8-86AA-E4CE-CFED-C9503542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5A"/>
                </a:solidFill>
              </a:rPr>
              <a:t>Conclusion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4F1A8E-FD7B-14D9-5CAA-84E3BC26D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b="1" dirty="0">
              <a:solidFill>
                <a:srgbClr val="00005A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5A"/>
                </a:solidFill>
              </a:rPr>
              <a:t>Differentially private, memory bounded continuous DFG Miner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5A"/>
                </a:solidFill>
              </a:rPr>
              <a:t>User level privacy in streaming context is feasible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5A"/>
                </a:solidFill>
              </a:rPr>
              <a:t>Post Processing Steps are crucial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5A"/>
                </a:solidFill>
              </a:rPr>
              <a:t> Parameter Trade-off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5A"/>
                </a:solidFill>
              </a:rPr>
              <a:t>Privacy Utility Trade-off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788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E2F044-CD48-D334-D3AB-346ADE4D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323F4B"/>
                </a:solidFill>
              </a:rPr>
              <a:t>References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96D529-E01E-1C50-B8A0-1458120FA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000" dirty="0"/>
              <a:t>[1] Wil M. P. van der Aalst. “Foundations of Process Discovery”. In: Process Mining Handbook. Ed. by Wil M. P. van der Aalst and Josep Carmona. Cham: Springer International Publish-</a:t>
            </a:r>
            <a:r>
              <a:rPr lang="en-US" sz="1000" dirty="0" err="1"/>
              <a:t>ing</a:t>
            </a:r>
            <a:r>
              <a:rPr lang="en-US" sz="1000" dirty="0"/>
              <a:t>, 2022, pp. 37–75. ISBN: 978-3-031-08848-3. DOI: 10.1007/978-3-031-08848-3 2. 	URL: </a:t>
            </a:r>
            <a:r>
              <a:rPr lang="en-US" sz="1000" dirty="0">
                <a:hlinkClick r:id="rId2"/>
              </a:rPr>
              <a:t>https://doi.org/10.1007/978-3-031-08848-3</a:t>
            </a:r>
            <a:br>
              <a:rPr lang="en-US" sz="1000" dirty="0"/>
            </a:br>
            <a:br>
              <a:rPr lang="en-US" sz="1000" dirty="0"/>
            </a:br>
            <a:r>
              <a:rPr lang="en-US" sz="1000" dirty="0"/>
              <a:t>[2] Alessandro Berti, Sebastiaan van </a:t>
            </a:r>
            <a:r>
              <a:rPr lang="en-US" sz="1000" dirty="0" err="1"/>
              <a:t>Zelst</a:t>
            </a:r>
            <a:r>
              <a:rPr lang="en-US" sz="1000" dirty="0"/>
              <a:t>, and Daniel Schuster. “PM4Py: A process mining library for Python”. In: Software Impacts 17 (2023), p. 100556. ISSN: 2665-9638. DOI: https://doi.org/10.1016/j.simpa.2023.100556. URL: 	</a:t>
            </a:r>
            <a:r>
              <a:rPr lang="en-US" sz="1000" dirty="0">
                <a:hlinkClick r:id="rId3"/>
              </a:rPr>
              <a:t>https://www.sciencedirect.com/science/article/pii/S2665963823000933</a:t>
            </a:r>
            <a:br>
              <a:rPr lang="en-US" sz="1000" dirty="0"/>
            </a:br>
            <a:br>
              <a:rPr lang="en-US" sz="1000" dirty="0"/>
            </a:br>
            <a:r>
              <a:rPr lang="en-US" sz="1000" dirty="0"/>
              <a:t>[3] Burton H. Bloom. “Space/time trade-offs in hash coding with allowable errors”. In: Commun. ACM 13.7 (July 1970), pp. 422–426. ISSN: 0001-0782. DOI: 10 . 1145 / 362686 .362692. URL: </a:t>
            </a:r>
            <a:r>
              <a:rPr lang="en-US" sz="1000" dirty="0">
                <a:hlinkClick r:id="rId4"/>
              </a:rPr>
              <a:t>https://doi.org/10.1145/362686.362692</a:t>
            </a:r>
            <a:r>
              <a:rPr lang="en-US" sz="1000" dirty="0"/>
              <a:t>.</a:t>
            </a:r>
            <a:br>
              <a:rPr lang="en-US" sz="1000" dirty="0"/>
            </a:br>
            <a:br>
              <a:rPr lang="en-US" sz="1000" dirty="0"/>
            </a:br>
            <a:r>
              <a:rPr lang="en-US" sz="1000" dirty="0"/>
              <a:t>[4] JCAM Buijs. “Receipt phase of an environmental permit application process (‘WABO’), </a:t>
            </a:r>
            <a:r>
              <a:rPr lang="en-US" sz="1000" dirty="0" err="1"/>
              <a:t>CoSeLoG</a:t>
            </a:r>
            <a:r>
              <a:rPr lang="en-US" sz="1000" dirty="0"/>
              <a:t> project”. In: Eindhoven University of Technology (2014).</a:t>
            </a:r>
            <a:br>
              <a:rPr lang="en-US" sz="1000" dirty="0"/>
            </a:br>
            <a:br>
              <a:rPr lang="en-US" sz="1000" dirty="0"/>
            </a:br>
            <a:br>
              <a:rPr lang="en-US" sz="1000" dirty="0"/>
            </a:br>
            <a:r>
              <a:rPr lang="en-US" sz="1000" dirty="0"/>
              <a:t>[5] Andrea </a:t>
            </a:r>
            <a:r>
              <a:rPr lang="en-US" sz="1000" dirty="0" err="1"/>
              <a:t>Burattin</a:t>
            </a:r>
            <a:r>
              <a:rPr lang="en-US" sz="1000" dirty="0"/>
              <a:t>. “Streaming Process Mining”. In: Process Mining Handbook. Ed. by Wil M. P. van der Aalst and Josep Carmona. Cham: Springer International Publishing, 2022, pp. 349–372. ISBN: 978-3-031-08848-3. DOI: 10.1007/978- 3- 031- 08848- 3 11. URL: 	</a:t>
            </a:r>
            <a:r>
              <a:rPr lang="en-US" sz="1000" dirty="0">
                <a:hlinkClick r:id="rId5"/>
              </a:rPr>
              <a:t>https://doi.org/10.1007/978-3-031-08848-3 11</a:t>
            </a:r>
            <a:r>
              <a:rPr lang="en-US" sz="1000" dirty="0"/>
              <a:t>.</a:t>
            </a:r>
            <a:br>
              <a:rPr lang="en-US" sz="1000" dirty="0"/>
            </a:br>
            <a:br>
              <a:rPr lang="en-US" sz="1000" dirty="0"/>
            </a:br>
            <a:r>
              <a:rPr lang="en-US" sz="1000" dirty="0"/>
              <a:t>[6] Steven Diamond and Stephen Boyd. “CVXPY: A Python-embedded modeling language for convex optimization”. In: Journal of Machine Learning Research 17.83 (2016), pp. 1–5.</a:t>
            </a:r>
          </a:p>
          <a:p>
            <a:r>
              <a:rPr lang="en-US" sz="1000" dirty="0"/>
              <a:t>[7] Boudewijn van Dongen. BPI Challenge 2012. 2012. DOI: 10.4121/uuid:3926db30-f712-4394-aebc-75976070e91f.</a:t>
            </a:r>
          </a:p>
          <a:p>
            <a:r>
              <a:rPr lang="en-US" sz="1000" dirty="0"/>
              <a:t>[8] Boudewijn van Dongen. BPI challenge 2020 (2020). https://data.4tu.nl/collections/BPI Challenge 2020/5065541/1.</a:t>
            </a:r>
            <a:br>
              <a:rPr lang="en-US" sz="1000" dirty="0"/>
            </a:br>
            <a:br>
              <a:rPr lang="en-US" sz="1000" dirty="0"/>
            </a:br>
            <a:r>
              <a:rPr lang="en-US" sz="1000" dirty="0"/>
              <a:t>[9] Cynthia Dwork and Aaron Roth. “The Algorithmic Foundations of Differential Privacy”. In: Found. Trends Theor. </a:t>
            </a:r>
            <a:r>
              <a:rPr lang="en-US" sz="1000" dirty="0" err="1"/>
              <a:t>Comput</a:t>
            </a:r>
            <a:r>
              <a:rPr lang="en-US" sz="1000" dirty="0"/>
              <a:t>. Sci. 9.3–4 (Aug. 2014), pp. 211–407. ISSN: 1551-305X. DOI:10.1561/0400000042. URL: https://doi.org/10.1561/0400000042.</a:t>
            </a:r>
            <a:br>
              <a:rPr lang="en-US" sz="1000" dirty="0"/>
            </a:br>
            <a:br>
              <a:rPr lang="en-US" sz="1000" dirty="0"/>
            </a:br>
            <a:r>
              <a:rPr lang="en-US" sz="1000" dirty="0"/>
              <a:t>[10] Cynthia Dwork et al. “Calibrating Noise to Sensitivity in Private Data Analysis”. In: Theory of Cryptography. Ed. by Shai Halevi and Tal Rabin. Berlin, Heidelberg: Springer Berlin Heidelberg, 2006, pp. 265–284. ISBN: 978-3-540-32732-5.</a:t>
            </a:r>
            <a:br>
              <a:rPr lang="en-US" sz="1000" dirty="0"/>
            </a:br>
            <a:br>
              <a:rPr lang="en-US" sz="1000" dirty="0"/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2647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36EE0-579B-2477-2514-3B17F847F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833179-6E02-EB5C-3AF0-0AD6194CD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sz="1200" dirty="0"/>
            </a:br>
            <a:r>
              <a:rPr lang="en-US" sz="1200" dirty="0"/>
              <a:t>[11] Cynthia Dwork et al. “Differential privacy under continual observation”. In: Proceedings of the Forty-Second ACM Symposium on Theory of Computing. STOC ’10. Cambridge, Massachusetts, USA: Association for Computing Machinery, 2010, pp. 715–724. ISBN: 	9781450300506. DOI: 10.1145/1806689.1806787. URL: </a:t>
            </a:r>
            <a:r>
              <a:rPr lang="en-US" sz="1200" dirty="0">
                <a:hlinkClick r:id="rId2"/>
              </a:rPr>
              <a:t>https://doi.org/10.1145/1806689.1806787</a:t>
            </a:r>
            <a:r>
              <a:rPr lang="en-US" sz="1200" dirty="0"/>
              <a:t>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[12] Georgios </a:t>
            </a:r>
            <a:r>
              <a:rPr lang="en-US" sz="1200" dirty="0" err="1"/>
              <a:t>Kellaris</a:t>
            </a:r>
            <a:r>
              <a:rPr lang="en-US" sz="1200" dirty="0"/>
              <a:t> et al. “Differentially private event sequences over infinite streams”. In: Proc. VLDB Endow. 7.12 (Aug. 2014), pp. 1155–1166. ISSN: 2150-8097. DOI: 10.14778/2732977.2732989. URL: </a:t>
            </a:r>
            <a:r>
              <a:rPr lang="en-US" sz="1200" dirty="0">
                <a:hlinkClick r:id="rId3"/>
              </a:rPr>
              <a:t>https://doi.org/10.14778/2732977.2732989</a:t>
            </a:r>
            <a:endParaRPr lang="en-US" sz="1200" dirty="0"/>
          </a:p>
          <a:p>
            <a:r>
              <a:rPr lang="en-US" sz="1200" dirty="0"/>
              <a:t>[13] Felix </a:t>
            </a:r>
            <a:r>
              <a:rPr lang="en-US" sz="1200" dirty="0" err="1"/>
              <a:t>Mannhardt</a:t>
            </a:r>
            <a:r>
              <a:rPr lang="en-US" sz="1200" dirty="0"/>
              <a:t>. “Sepsis Cases - Event Log”. In: (2016). DOI: 10.4121/uuid:915d2bfb-7e84-49ad-a286-dc35f063a460.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[14] Felix </a:t>
            </a:r>
            <a:r>
              <a:rPr lang="en-US" sz="1200" dirty="0" err="1"/>
              <a:t>Mannhardt</a:t>
            </a:r>
            <a:r>
              <a:rPr lang="en-US" sz="1200" dirty="0"/>
              <a:t> et al. “Privacy-Preserving Process Mining”. In: Business &amp; Information Systems Engineering 61.5 (Oct. 1, 2019), pp. 595–614. ISSN: 1867-0202. DOI: 10 . 1007 /s12599 - 019 - 00613 - 3. URL: https : / / </a:t>
            </a:r>
            <a:r>
              <a:rPr lang="en-US" sz="1200" dirty="0" err="1"/>
              <a:t>doi</a:t>
            </a:r>
            <a:r>
              <a:rPr lang="en-US" sz="1200" dirty="0"/>
              <a:t> . org / 10 . 1007 / s12599 - 019 - 00613 - 3.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[15] Max Schulze et al. “Differentially Private Inductive Miner”. In: 2024 6th International Conference on Process Mining (ICPM). IEEE, Oct. 2024, pp. 89–96. DOI: 10.1109/icpm63005.2024.10680684. URL: </a:t>
            </a:r>
            <a:r>
              <a:rPr lang="en-US" sz="1200" dirty="0">
                <a:hlinkClick r:id="rId4"/>
              </a:rPr>
              <a:t>http://dx.doi.org/10.1109/ICPM63005.2024.10680684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[16] S.J. van </a:t>
            </a:r>
            <a:r>
              <a:rPr lang="en-US" sz="1200" dirty="0" err="1"/>
              <a:t>Zelst</a:t>
            </a:r>
            <a:r>
              <a:rPr lang="en-US" sz="1200" dirty="0"/>
              <a:t>. “Process mining with streaming data”. English. </a:t>
            </a:r>
            <a:r>
              <a:rPr lang="en-US" sz="1200" dirty="0" err="1"/>
              <a:t>Proefschrift</a:t>
            </a:r>
            <a:r>
              <a:rPr lang="en-US" sz="1200" dirty="0"/>
              <a:t>. </a:t>
            </a:r>
            <a:r>
              <a:rPr lang="en-US" sz="1200" dirty="0" err="1"/>
              <a:t>Phd</a:t>
            </a:r>
            <a:r>
              <a:rPr lang="en-US" sz="1200" dirty="0"/>
              <a:t> Thesis 1(Research TU/e / Graduation TU/e). Mathematics and Computer Science, Mar. 2019. ISBN: 978-90-386-4699-2.</a:t>
            </a:r>
          </a:p>
          <a:p>
            <a:r>
              <a:rPr lang="en-US" sz="1200" dirty="0"/>
              <a:t>[17] Sander J. J. Leemans, Dirk Fahland, and Wil M. P. van der Aalst. “Discovering Block-</a:t>
            </a:r>
            <a:r>
              <a:rPr lang="en-US" sz="1200" dirty="0" err="1"/>
              <a:t>StructuredProcess</a:t>
            </a:r>
            <a:r>
              <a:rPr lang="en-US" sz="1200" dirty="0"/>
              <a:t> Models from Event Logs Containing Infrequent </a:t>
            </a:r>
            <a:r>
              <a:rPr lang="en-US" sz="1200" dirty="0" err="1"/>
              <a:t>Behaviour</a:t>
            </a:r>
            <a:r>
              <a:rPr lang="en-US" sz="1200" dirty="0"/>
              <a:t>”. In: Business </a:t>
            </a:r>
            <a:r>
              <a:rPr lang="en-US" sz="1200" dirty="0" err="1"/>
              <a:t>ProcessManagement</a:t>
            </a:r>
            <a:r>
              <a:rPr lang="en-US" sz="1200" dirty="0"/>
              <a:t> Workshops. Ed. by Niels Lohmann, </a:t>
            </a:r>
            <a:r>
              <a:rPr lang="en-US" sz="1200" dirty="0" err="1"/>
              <a:t>Minseok</a:t>
            </a:r>
            <a:r>
              <a:rPr lang="en-US" sz="1200" dirty="0"/>
              <a:t> Song, and Petia </a:t>
            </a:r>
            <a:r>
              <a:rPr lang="en-US" sz="1200" dirty="0" err="1"/>
              <a:t>Wohed</a:t>
            </a:r>
            <a:r>
              <a:rPr lang="en-US" sz="1200" dirty="0"/>
              <a:t>. </a:t>
            </a:r>
            <a:r>
              <a:rPr lang="en-US" sz="1200" dirty="0" err="1"/>
              <a:t>Cham:Springer</a:t>
            </a:r>
            <a:r>
              <a:rPr lang="en-US" sz="1200" dirty="0"/>
              <a:t> International Publishing, 2014, pp. 66–78. ISBN: 978-3-319-06257-0.</a:t>
            </a:r>
          </a:p>
        </p:txBody>
      </p:sp>
    </p:spTree>
    <p:extLst>
      <p:ext uri="{BB962C8B-B14F-4D97-AF65-F5344CB8AC3E}">
        <p14:creationId xmlns:p14="http://schemas.microsoft.com/office/powerpoint/2010/main" val="2316411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D4C04-A739-E159-32CF-FA10242F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Reference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E2D9AC-F6F7-7C00-4A70-A933E7883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[1] </a:t>
            </a:r>
            <a:r>
              <a:rPr lang="en-US" dirty="0">
                <a:hlinkClick r:id="rId2"/>
              </a:rPr>
              <a:t>https://upload.wikimedia.org/wikipedia/commons/5/5a/Laplace-verteilung.svg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725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597C2A8D-6D40-E9E2-EB16-0EF198847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E6C6DFC-4AA5-6C50-17BC-7CEAF49A3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4143632" cy="2196296"/>
          </a:xfrm>
        </p:spPr>
        <p:txBody>
          <a:bodyPr/>
          <a:lstStyle/>
          <a:p>
            <a:r>
              <a:rPr lang="en-US" sz="6600" dirty="0"/>
              <a:t>Questions?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0EB31951-1204-6408-4BF1-3A56C879C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ED7BE49-3DC9-9C49-5350-CE1252D71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8108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C2D3E-0570-3695-0EA6-40243056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Decay and MRE; TB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3B0687E-3D04-A9A0-2671-CD353470838E}"/>
              </a:ext>
            </a:extLst>
          </p:cNvPr>
          <p:cNvSpPr txBox="1"/>
          <p:nvPr/>
        </p:nvSpPr>
        <p:spPr>
          <a:xfrm>
            <a:off x="9192126" y="5583555"/>
            <a:ext cx="2390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00005A"/>
                </a:solidFill>
              </a:rPr>
              <a:t>own </a:t>
            </a:r>
            <a:r>
              <a:rPr lang="de-DE" sz="1400" dirty="0" err="1">
                <a:solidFill>
                  <a:srgbClr val="00005A"/>
                </a:solidFill>
              </a:rPr>
              <a:t>representation</a:t>
            </a:r>
            <a:endParaRPr lang="de-DE" sz="1400" dirty="0">
              <a:solidFill>
                <a:srgbClr val="00005A"/>
              </a:solidFill>
            </a:endParaRPr>
          </a:p>
          <a:p>
            <a:endParaRPr lang="en-US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79107FDE-ADE6-BDB0-4767-A66CB09A7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111" y="934142"/>
            <a:ext cx="7952015" cy="49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95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6B59E6B-1CE5-1782-5895-1962C0BFB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947058"/>
            <a:ext cx="10234863" cy="517567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4CDDF47-4764-3D7C-2915-B4FDB397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Windowed DP – F1 scores over Stream progress; ECB mode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C951C1C-DEAE-5B1F-E2FE-03642092AAFD}"/>
              </a:ext>
            </a:extLst>
          </p:cNvPr>
          <p:cNvSpPr txBox="1"/>
          <p:nvPr/>
        </p:nvSpPr>
        <p:spPr>
          <a:xfrm>
            <a:off x="9994232" y="5757053"/>
            <a:ext cx="19603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5A"/>
                </a:solidFill>
              </a:rPr>
              <a:t>own </a:t>
            </a:r>
            <a:r>
              <a:rPr lang="de-DE" sz="1400" dirty="0" err="1">
                <a:solidFill>
                  <a:srgbClr val="00005A"/>
                </a:solidFill>
              </a:rPr>
              <a:t>representation</a:t>
            </a:r>
            <a:endParaRPr lang="de-DE" sz="1400" dirty="0">
              <a:solidFill>
                <a:srgbClr val="0000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278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F0659-6038-DB8E-97C5-2B57EDC1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Accumulated DFG with SA-Filtering over Stream Progress; ECB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3AEF924-2E7B-8282-6F63-FB56F5812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71073"/>
            <a:ext cx="10900611" cy="494898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1A33AC2-E343-DC70-7907-EE555CD907EF}"/>
              </a:ext>
            </a:extLst>
          </p:cNvPr>
          <p:cNvSpPr txBox="1"/>
          <p:nvPr/>
        </p:nvSpPr>
        <p:spPr>
          <a:xfrm>
            <a:off x="9841831" y="5812285"/>
            <a:ext cx="19603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5A"/>
                </a:solidFill>
              </a:rPr>
              <a:t>own </a:t>
            </a:r>
            <a:r>
              <a:rPr lang="de-DE" sz="1400" dirty="0" err="1">
                <a:solidFill>
                  <a:srgbClr val="00005A"/>
                </a:solidFill>
              </a:rPr>
              <a:t>representation</a:t>
            </a:r>
            <a:endParaRPr lang="de-DE" sz="1400" dirty="0">
              <a:solidFill>
                <a:srgbClr val="0000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1627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083ECB-CC1A-E1A4-03A8-4DC0E6BF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Decay and MRE; ECB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500F837-1C65-0626-B76C-92B36581A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83921"/>
            <a:ext cx="10756232" cy="475807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DA03CD5-0E9C-7176-AEC0-501B99107801}"/>
              </a:ext>
            </a:extLst>
          </p:cNvPr>
          <p:cNvSpPr txBox="1"/>
          <p:nvPr/>
        </p:nvSpPr>
        <p:spPr>
          <a:xfrm>
            <a:off x="9745579" y="5534223"/>
            <a:ext cx="19603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5A"/>
                </a:solidFill>
              </a:rPr>
              <a:t>own </a:t>
            </a:r>
            <a:r>
              <a:rPr lang="de-DE" sz="1400" dirty="0" err="1">
                <a:solidFill>
                  <a:srgbClr val="00005A"/>
                </a:solidFill>
              </a:rPr>
              <a:t>representation</a:t>
            </a:r>
            <a:endParaRPr lang="de-DE" sz="1400" dirty="0">
              <a:solidFill>
                <a:srgbClr val="0000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6260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5C574-7AD4-10B0-90B3-1F2C4B21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 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0B466A9-48C8-F71D-6329-453BFE8E2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" y="1700463"/>
            <a:ext cx="12122839" cy="393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47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image.png">
            <a:extLst>
              <a:ext uri="{FF2B5EF4-FFF2-40B4-BE49-F238E27FC236}">
                <a16:creationId xmlns:a16="http://schemas.microsoft.com/office/drawing/2014/main" id="{84CFC4ED-5ED6-F176-512E-32F288229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049" y="1454316"/>
            <a:ext cx="5594351" cy="4866273"/>
          </a:xfrm>
          <a:prstGeom prst="rect">
            <a:avLst/>
          </a:prstGeom>
        </p:spPr>
      </p:pic>
      <p:pic>
        <p:nvPicPr>
          <p:cNvPr id="6" name="Picture 1" descr="image.png">
            <a:extLst>
              <a:ext uri="{FF2B5EF4-FFF2-40B4-BE49-F238E27FC236}">
                <a16:creationId xmlns:a16="http://schemas.microsoft.com/office/drawing/2014/main" id="{C8467D98-6A16-7E6F-FC59-A85168A10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25" y="1454317"/>
            <a:ext cx="5378449" cy="4802104"/>
          </a:xfrm>
          <a:prstGeom prst="rect">
            <a:avLst/>
          </a:prstGeom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B60E65B-DDB8-E996-CE0A-F403BC56BC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US" b="1" noProof="0" dirty="0">
                <a:solidFill>
                  <a:srgbClr val="0000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323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extends the Pm4Py Streaming Algorithm interface [2]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323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Implements a </a:t>
            </a:r>
            <a:r>
              <a:rPr lang="en-US" i="1" noProof="0" dirty="0" err="1">
                <a:solidFill>
                  <a:srgbClr val="323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Pausable</a:t>
            </a:r>
            <a:r>
              <a:rPr lang="en-US" i="1" noProof="0" dirty="0">
                <a:solidFill>
                  <a:srgbClr val="323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Event Stream</a:t>
            </a:r>
            <a:r>
              <a:rPr lang="en-US" noProof="0" dirty="0">
                <a:solidFill>
                  <a:srgbClr val="323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synchronized snapshot rendering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323F4B"/>
                </a:solidFill>
              </a:rPr>
              <a:t>Parallel multiprocessing framework to evaluate parameter grids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323F4B"/>
                </a:solidFill>
              </a:rPr>
              <a:t>CVXPY library for convex flow correction </a:t>
            </a:r>
            <a:r>
              <a:rPr lang="en-US" noProof="0" dirty="0" err="1">
                <a:solidFill>
                  <a:srgbClr val="323F4B"/>
                </a:solidFill>
              </a:rPr>
              <a:t>optimiziation</a:t>
            </a:r>
            <a:r>
              <a:rPr lang="en-US" noProof="0" dirty="0">
                <a:solidFill>
                  <a:srgbClr val="323F4B"/>
                </a:solidFill>
              </a:rPr>
              <a:t> [6]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4D20CE5-E651-9A6E-91F6-0B7770C6310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ctr"/>
                <a:r>
                  <a:rPr lang="en-US" b="1" noProof="0" dirty="0">
                    <a:solidFill>
                      <a:srgbClr val="00005A"/>
                    </a:solidFill>
                  </a:rPr>
                  <a:t>Evaluation Metrics: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solidFill>
                      <a:srgbClr val="323F4B"/>
                    </a:solidFill>
                  </a:rPr>
                  <a:t>Edge Metrics: Edge recall and precision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solidFill>
                      <a:srgbClr val="323F4B"/>
                    </a:solidFill>
                  </a:rPr>
                  <a:t>4 observed Event Logs</a:t>
                </a:r>
              </a:p>
              <a:p>
                <a:pPr marL="576263" lvl="2" indent="-342900"/>
                <a:r>
                  <a:rPr lang="en-US" dirty="0">
                    <a:solidFill>
                      <a:srgbClr val="323F4B"/>
                    </a:solidFill>
                  </a:rPr>
                  <a:t>Sepsis [13], BPIC 2012 [7], BPIC 2020 [8], Environmental Permit [4]</a:t>
                </a:r>
                <a:endParaRPr lang="en-US" noProof="0" dirty="0">
                  <a:solidFill>
                    <a:srgbClr val="323F4B"/>
                  </a:solidFill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solidFill>
                      <a:srgbClr val="323F4B"/>
                    </a:solidFill>
                  </a:rPr>
                  <a:t>Mean Relative Error vs. offline baselines</a:t>
                </a:r>
                <a:br>
                  <a:rPr lang="en-US" noProof="0" dirty="0">
                    <a:solidFill>
                      <a:srgbClr val="323F4B"/>
                    </a:solidFill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0" noProof="0" smtClean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0" noProof="0" smtClean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0" noProof="0" smtClean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400" b="0" i="0" noProof="0" smtClean="0">
                        <a:solidFill>
                          <a:srgbClr val="323F4B"/>
                        </a:solidFill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limLoc m:val="undOvr"/>
                        <m:ctrlPr>
                          <a:rPr lang="en-US" sz="1400" b="0" i="0" noProof="0" smtClean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0" noProof="0" smtClean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b="0" i="0" noProof="0" smtClean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b="0" i="0" noProof="0" smtClean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400" b="0" i="0" noProof="0" smtClean="0">
                            <a:solidFill>
                              <a:srgbClr val="323F4B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  <m:f>
                          <m:fPr>
                            <m:ctrlPr>
                              <a:rPr lang="en-US" sz="1400" i="1" noProof="0" smtClean="0">
                                <a:solidFill>
                                  <a:srgbClr val="323F4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 noProof="0" smtClean="0">
                                <a:solidFill>
                                  <a:srgbClr val="323F4B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sz="1400" i="1" noProof="0" smtClean="0">
                                    <a:solidFill>
                                      <a:srgbClr val="323F4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noProof="0" smtClean="0">
                                    <a:solidFill>
                                      <a:srgbClr val="323F4B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 noProof="0" smtClean="0">
                                    <a:solidFill>
                                      <a:srgbClr val="323F4B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1400" i="1" noProof="0" smtClean="0">
                                    <a:solidFill>
                                      <a:srgbClr val="323F4B"/>
                                    </a:solidFill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</m:sup>
                            </m:sSubSup>
                            <m:r>
                              <a:rPr lang="en-US" sz="1400" i="1" noProof="0" smtClean="0">
                                <a:solidFill>
                                  <a:srgbClr val="323F4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400" i="1" noProof="0" smtClean="0">
                                    <a:solidFill>
                                      <a:srgbClr val="323F4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noProof="0" smtClean="0">
                                    <a:solidFill>
                                      <a:srgbClr val="323F4B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 noProof="0" smtClean="0">
                                    <a:solidFill>
                                      <a:srgbClr val="323F4B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1400" i="1" noProof="0" smtClean="0">
                                    <a:solidFill>
                                      <a:srgbClr val="323F4B"/>
                                    </a:solidFill>
                                    <a:latin typeface="Cambria Math" panose="02040503050406030204" pitchFamily="18" charset="0"/>
                                  </a:rPr>
                                  <m:t>𝑝𝑟𝑒𝑑</m:t>
                                </m:r>
                                <m:r>
                                  <a:rPr lang="en-US" sz="1400" i="1" noProof="0" smtClean="0">
                                    <a:solidFill>
                                      <a:srgbClr val="323F4B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p>
                            </m:sSubSup>
                            <m:r>
                              <a:rPr lang="en-US" sz="1400" i="1" noProof="0" smtClean="0">
                                <a:solidFill>
                                  <a:srgbClr val="323F4B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400" i="1" noProof="0" smtClean="0">
                                    <a:solidFill>
                                      <a:srgbClr val="323F4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1400" i="1" noProof="0" smtClean="0">
                                        <a:solidFill>
                                          <a:srgbClr val="323F4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i="1" noProof="0" smtClean="0">
                                        <a:solidFill>
                                          <a:srgbClr val="323F4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 noProof="0" smtClean="0">
                                        <a:solidFill>
                                          <a:srgbClr val="323F4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400" i="1" noProof="0" smtClean="0">
                                        <a:solidFill>
                                          <a:srgbClr val="323F4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𝑡𝑟𝑢𝑒</m:t>
                                    </m:r>
                                  </m:sup>
                                </m:sSubSup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noProof="0" dirty="0">
                  <a:solidFill>
                    <a:srgbClr val="323F4B"/>
                  </a:solidFill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solidFill>
                      <a:srgbClr val="323F4B"/>
                    </a:solidFill>
                  </a:rPr>
                  <a:t>Petri Net Quality (Inductive/Heuristic) [1,16]:</a:t>
                </a:r>
              </a:p>
              <a:p>
                <a:pPr marL="576263" lvl="2" indent="-342900">
                  <a:buFont typeface="Wingdings" panose="05000000000000000000" pitchFamily="2" charset="2"/>
                  <a:buChar char="§"/>
                </a:pPr>
                <a:r>
                  <a:rPr lang="en-US" noProof="0" dirty="0">
                    <a:solidFill>
                      <a:srgbClr val="323F4B"/>
                    </a:solidFill>
                  </a:rPr>
                  <a:t>Fitness, Precision, Generality, Simplicity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4D20CE5-E651-9A6E-91F6-0B7770C631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721" t="-1932" r="-3288" b="-124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>
            <a:extLst>
              <a:ext uri="{FF2B5EF4-FFF2-40B4-BE49-F238E27FC236}">
                <a16:creationId xmlns:a16="http://schemas.microsoft.com/office/drawing/2014/main" id="{B4B1CCB5-E83D-25C1-D397-AA4BAFE1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00005A"/>
                </a:solidFill>
              </a:rPr>
              <a:t>Implementation &amp; Setups</a:t>
            </a:r>
          </a:p>
        </p:txBody>
      </p:sp>
    </p:spTree>
    <p:extLst>
      <p:ext uri="{BB962C8B-B14F-4D97-AF65-F5344CB8AC3E}">
        <p14:creationId xmlns:p14="http://schemas.microsoft.com/office/powerpoint/2010/main" val="11379169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4A322-FCA6-D46F-F4FE-0CF417154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00005A"/>
                </a:solidFill>
              </a:rPr>
              <a:t>Evaluation Results: Guidelines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8F32A5-20F8-6239-3531-FBA7CD68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  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CC51D13-0864-CCDA-8960-025DF9EA2D60}"/>
              </a:ext>
            </a:extLst>
          </p:cNvPr>
          <p:cNvSpPr txBox="1"/>
          <p:nvPr/>
        </p:nvSpPr>
        <p:spPr>
          <a:xfrm>
            <a:off x="1000125" y="1995487"/>
            <a:ext cx="10620375" cy="579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334155"/>
                </a:solidFill>
                <a:latin typeface="Lato"/>
              </a:rPr>
              <a:t>Joint Hyperparameter Tuning:</a:t>
            </a:r>
            <a:r>
              <a:rPr lang="en-US" sz="1500" b="0" i="0" u="none" noProof="0" dirty="0">
                <a:solidFill>
                  <a:srgbClr val="334155"/>
                </a:solidFill>
                <a:latin typeface="Lato"/>
              </a:rPr>
              <a:t> Trace Limits, window size and publication frequency interact heavily with each other. </a:t>
            </a:r>
            <a:br>
              <a:rPr lang="en-US" sz="1500" b="0" i="0" u="none" noProof="0" dirty="0">
                <a:solidFill>
                  <a:srgbClr val="334155"/>
                </a:solidFill>
                <a:latin typeface="Lato"/>
              </a:rPr>
            </a:br>
            <a:r>
              <a:rPr lang="en-US" sz="1500" b="0" i="0" u="none" noProof="0" dirty="0">
                <a:solidFill>
                  <a:srgbClr val="334155"/>
                </a:solidFill>
                <a:latin typeface="Lato"/>
              </a:rPr>
              <a:t>Setting those parameters correctly requires some domain knowledge.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BFF6E2B-5AEB-10C6-AD95-511CB5C87772}"/>
              </a:ext>
            </a:extLst>
          </p:cNvPr>
          <p:cNvSpPr txBox="1"/>
          <p:nvPr/>
        </p:nvSpPr>
        <p:spPr>
          <a:xfrm>
            <a:off x="1000125" y="3148012"/>
            <a:ext cx="10620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334155"/>
                </a:solidFill>
                <a:latin typeface="Lato"/>
              </a:rPr>
              <a:t>Select the Right Publishing Mode:</a:t>
            </a:r>
            <a:r>
              <a:rPr lang="en-US" sz="1500" b="0" i="0" u="none" noProof="0" dirty="0">
                <a:solidFill>
                  <a:srgbClr val="334155"/>
                </a:solidFill>
                <a:latin typeface="Lato"/>
              </a:rPr>
              <a:t> If strict real-time calendar updates are not mandatory, prefer the Event Count Based (ECB) mode. It maximizes budget efficiency and reliably shields the model from extreme noise spikes.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558D334D-C97A-4373-4F5D-24B66846C44D}"/>
              </a:ext>
            </a:extLst>
          </p:cNvPr>
          <p:cNvSpPr txBox="1"/>
          <p:nvPr/>
        </p:nvSpPr>
        <p:spPr>
          <a:xfrm>
            <a:off x="1000125" y="3995737"/>
            <a:ext cx="10620375" cy="579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334155"/>
                </a:solidFill>
                <a:latin typeface="Lato"/>
              </a:rPr>
              <a:t>Leverage Flow-Correction:</a:t>
            </a:r>
            <a:r>
              <a:rPr lang="en-US" sz="1500" b="0" i="0" u="none" noProof="0" dirty="0">
                <a:solidFill>
                  <a:srgbClr val="334155"/>
                </a:solidFill>
                <a:latin typeface="Lato"/>
              </a:rPr>
              <a:t> Always apply post-processing steps when discovering sound models via the Inductive Miner. Raw accumulated noise sometimes breaks the divide-and-conquer strategy of the IM.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5FEC0B0-9FBC-7777-7796-F60A59E4E63C}"/>
              </a:ext>
            </a:extLst>
          </p:cNvPr>
          <p:cNvSpPr txBox="1"/>
          <p:nvPr/>
        </p:nvSpPr>
        <p:spPr>
          <a:xfrm>
            <a:off x="1000125" y="5148262"/>
            <a:ext cx="10620375" cy="579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334155"/>
                </a:solidFill>
                <a:latin typeface="Lato"/>
              </a:rPr>
              <a:t>The Privacy-Utility Trade-off:</a:t>
            </a:r>
            <a:r>
              <a:rPr lang="en-US" sz="1500" b="0" i="0" u="none" noProof="0" dirty="0">
                <a:solidFill>
                  <a:srgbClr val="334155"/>
                </a:solidFill>
                <a:latin typeface="Lato"/>
              </a:rPr>
              <a:t> The framework successfully preserves user-level DP bounded at ε=1.0. Tighter privacy budgets (ε &lt; 1.0) will amplify Laplace noise.</a:t>
            </a:r>
          </a:p>
        </p:txBody>
      </p:sp>
      <p:pic>
        <p:nvPicPr>
          <p:cNvPr id="13" name="Picture 7" descr="image.png">
            <a:extLst>
              <a:ext uri="{FF2B5EF4-FFF2-40B4-BE49-F238E27FC236}">
                <a16:creationId xmlns:a16="http://schemas.microsoft.com/office/drawing/2014/main" id="{83FAF00E-5BC9-E32E-F4DD-54F4EA7C9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28825"/>
            <a:ext cx="247650" cy="257175"/>
          </a:xfrm>
          <a:prstGeom prst="rect">
            <a:avLst/>
          </a:prstGeom>
        </p:spPr>
      </p:pic>
      <p:pic>
        <p:nvPicPr>
          <p:cNvPr id="15" name="Picture 8" descr="image.png">
            <a:extLst>
              <a:ext uri="{FF2B5EF4-FFF2-40B4-BE49-F238E27FC236}">
                <a16:creationId xmlns:a16="http://schemas.microsoft.com/office/drawing/2014/main" id="{0FB98E87-61FC-5A65-6919-7B33515A4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81350"/>
            <a:ext cx="219075" cy="257175"/>
          </a:xfrm>
          <a:prstGeom prst="rect">
            <a:avLst/>
          </a:prstGeom>
        </p:spPr>
      </p:pic>
      <p:pic>
        <p:nvPicPr>
          <p:cNvPr id="17" name="Picture 9" descr="image.png">
            <a:extLst>
              <a:ext uri="{FF2B5EF4-FFF2-40B4-BE49-F238E27FC236}">
                <a16:creationId xmlns:a16="http://schemas.microsoft.com/office/drawing/2014/main" id="{D2229FBB-CD03-BDA8-84B6-EA8DC5430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29075"/>
            <a:ext cx="276225" cy="257175"/>
          </a:xfrm>
          <a:prstGeom prst="rect">
            <a:avLst/>
          </a:prstGeom>
        </p:spPr>
      </p:pic>
      <p:pic>
        <p:nvPicPr>
          <p:cNvPr id="19" name="Picture 10" descr="image.png">
            <a:extLst>
              <a:ext uri="{FF2B5EF4-FFF2-40B4-BE49-F238E27FC236}">
                <a16:creationId xmlns:a16="http://schemas.microsoft.com/office/drawing/2014/main" id="{D7F72AA3-CDFD-5B6B-4723-8B1B98780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81600"/>
            <a:ext cx="3143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422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image.png">
            <a:extLst>
              <a:ext uri="{FF2B5EF4-FFF2-40B4-BE49-F238E27FC236}">
                <a16:creationId xmlns:a16="http://schemas.microsoft.com/office/drawing/2014/main" id="{0722CA3A-18F5-4145-0C14-39727A6E8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24201"/>
            <a:ext cx="5673225" cy="4609598"/>
          </a:xfrm>
          <a:prstGeom prst="rect">
            <a:avLst/>
          </a:prstGeom>
        </p:spPr>
      </p:pic>
      <p:pic>
        <p:nvPicPr>
          <p:cNvPr id="6" name="Picture 1" descr="image.png">
            <a:extLst>
              <a:ext uri="{FF2B5EF4-FFF2-40B4-BE49-F238E27FC236}">
                <a16:creationId xmlns:a16="http://schemas.microsoft.com/office/drawing/2014/main" id="{76F817C9-A0D7-DC95-E936-751E8B52B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25" y="1124201"/>
            <a:ext cx="5673225" cy="4609598"/>
          </a:xfrm>
          <a:prstGeom prst="rect">
            <a:avLst/>
          </a:prstGeom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E55D144-3D76-9769-63ED-796EC50A57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US" b="1" noProof="0" dirty="0">
                <a:solidFill>
                  <a:srgbClr val="00005A"/>
                </a:solidFill>
              </a:rPr>
              <a:t>Event Count 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rgbClr val="00005A"/>
                </a:solidFill>
                <a:latin typeface="+mj-lt"/>
              </a:rPr>
              <a:t>Stable Budget: </a:t>
            </a:r>
            <a:r>
              <a:rPr lang="en-US" noProof="0" dirty="0">
                <a:solidFill>
                  <a:srgbClr val="323F4B"/>
                </a:solidFill>
                <a:latin typeface="+mj-lt"/>
              </a:rPr>
              <a:t>fixed schedule enables sustainable budget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rgbClr val="00005A"/>
                </a:solidFill>
                <a:latin typeface="+mj-lt"/>
              </a:rPr>
              <a:t>Baseline Convergence: </a:t>
            </a:r>
            <a:r>
              <a:rPr lang="en-US" noProof="0" dirty="0">
                <a:solidFill>
                  <a:srgbClr val="323F4B"/>
                </a:solidFill>
                <a:latin typeface="+mj-lt"/>
              </a:rPr>
              <a:t>Start activity filtered flow corrected DFG enables Inductive Miner to align almost perfectly with offline baseline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rgbClr val="00005A"/>
                </a:solidFill>
                <a:latin typeface="+mj-lt"/>
              </a:rPr>
              <a:t>High Robustness:</a:t>
            </a:r>
            <a:r>
              <a:rPr lang="en-US" noProof="0" dirty="0">
                <a:solidFill>
                  <a:srgbClr val="00005A"/>
                </a:solidFill>
                <a:latin typeface="+mj-lt"/>
              </a:rPr>
              <a:t> </a:t>
            </a:r>
            <a:r>
              <a:rPr lang="en-US" noProof="0" dirty="0">
                <a:solidFill>
                  <a:srgbClr val="323F4B"/>
                </a:solidFill>
                <a:latin typeface="+mj-lt"/>
              </a:rPr>
              <a:t>Lower publication frequencies fragment the privacy budget less, keeping the MRE low and preserving utility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73F5C1-47BB-AC7A-912C-EAD57AF74D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US" b="1" noProof="0" dirty="0">
                <a:solidFill>
                  <a:srgbClr val="00005A"/>
                </a:solidFill>
              </a:rPr>
              <a:t>Time 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rgbClr val="00005A"/>
                </a:solidFill>
              </a:rPr>
              <a:t>Fluctuating Decay: </a:t>
            </a:r>
            <a:r>
              <a:rPr lang="en-US" noProof="0" dirty="0">
                <a:solidFill>
                  <a:srgbClr val="323F4B"/>
                </a:solidFill>
              </a:rPr>
              <a:t>Budget is consumed unevenly depending on event density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rgbClr val="00005A"/>
                </a:solidFill>
              </a:rPr>
              <a:t>MRE Explosions: </a:t>
            </a:r>
            <a:r>
              <a:rPr lang="en-US" noProof="0" dirty="0">
                <a:solidFill>
                  <a:srgbClr val="323F4B"/>
                </a:solidFill>
              </a:rPr>
              <a:t>During sparse stream periods, budget exhaustion lead to high Laplace noise spikes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rgbClr val="323F4B"/>
                </a:solidFill>
              </a:rPr>
              <a:t>Miner Resilience:</a:t>
            </a:r>
            <a:r>
              <a:rPr lang="en-US" noProof="0" dirty="0">
                <a:solidFill>
                  <a:srgbClr val="323F4B"/>
                </a:solidFill>
              </a:rPr>
              <a:t> The Heuristic Miner proves more robust against the high noise fluctuations of TB mode </a:t>
            </a:r>
            <a:endParaRPr lang="en-US" b="1" noProof="0" dirty="0">
              <a:solidFill>
                <a:srgbClr val="00005A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ED4F972-A7B3-4BBA-8DC7-B48B09F40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00005A"/>
                </a:solidFill>
              </a:rPr>
              <a:t>Evaluation Results: Publishing Modes </a:t>
            </a:r>
          </a:p>
        </p:txBody>
      </p:sp>
    </p:spTree>
    <p:extLst>
      <p:ext uri="{BB962C8B-B14F-4D97-AF65-F5344CB8AC3E}">
        <p14:creationId xmlns:p14="http://schemas.microsoft.com/office/powerpoint/2010/main" val="1995372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image.png">
            <a:extLst>
              <a:ext uri="{FF2B5EF4-FFF2-40B4-BE49-F238E27FC236}">
                <a16:creationId xmlns:a16="http://schemas.microsoft.com/office/drawing/2014/main" id="{FB3BFDBA-E5FA-0D9B-264A-3A201CAFE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32402"/>
            <a:ext cx="5673225" cy="4609598"/>
          </a:xfrm>
          <a:prstGeom prst="rect">
            <a:avLst/>
          </a:prstGeom>
        </p:spPr>
      </p:pic>
      <p:pic>
        <p:nvPicPr>
          <p:cNvPr id="6" name="Picture 1" descr="image.png">
            <a:extLst>
              <a:ext uri="{FF2B5EF4-FFF2-40B4-BE49-F238E27FC236}">
                <a16:creationId xmlns:a16="http://schemas.microsoft.com/office/drawing/2014/main" id="{17F6F834-7F14-1780-5925-7C6EF152C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25" y="1124201"/>
            <a:ext cx="5673225" cy="4609598"/>
          </a:xfrm>
          <a:prstGeom prst="rect">
            <a:avLst/>
          </a:prstGeom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77B3D48-05BB-7242-46AB-FBA4199040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005A"/>
                </a:solidFill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Differentially private, memory bounded continuous DFG Miner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User level privacy in streaming context is feasible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Post Processing Steps are crucial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 Parameter Trade-off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3F4B"/>
                </a:solidFill>
              </a:rPr>
              <a:t>Privacy Utility Trade-off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A4FAEDC-697D-A470-FF9C-DF4492C85B8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ctr"/>
                <a:r>
                  <a:rPr lang="en-US" b="1" dirty="0">
                    <a:solidFill>
                      <a:srgbClr val="00005A"/>
                    </a:solidFill>
                  </a:rPr>
                  <a:t>Future Work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323F4B"/>
                    </a:solidFill>
                  </a:rPr>
                  <a:t>Stricter Privacy Guarantees (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rgbClr val="323F4B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de-DE" b="0" i="1" smtClean="0">
                        <a:solidFill>
                          <a:srgbClr val="323F4B"/>
                        </a:solidFill>
                        <a:latin typeface="Cambria Math" panose="02040503050406030204" pitchFamily="18" charset="0"/>
                      </a:rPr>
                      <m:t>&lt;1.0</m:t>
                    </m:r>
                  </m:oMath>
                </a14:m>
                <a:r>
                  <a:rPr lang="en-US" dirty="0">
                    <a:solidFill>
                      <a:srgbClr val="323F4B"/>
                    </a:solidFill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323F4B"/>
                    </a:solidFill>
                  </a:rPr>
                  <a:t>Alignment Based conformance checking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323F4B"/>
                    </a:solidFill>
                  </a:rPr>
                  <a:t>Complex models like Petri Nets, BPMNs etc.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323F4B"/>
                    </a:solidFill>
                  </a:rPr>
                  <a:t>Real world deployment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A4FAEDC-697D-A470-FF9C-DF4492C85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721" t="-19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>
            <a:extLst>
              <a:ext uri="{FF2B5EF4-FFF2-40B4-BE49-F238E27FC236}">
                <a16:creationId xmlns:a16="http://schemas.microsoft.com/office/drawing/2014/main" id="{C99CFCB4-3C05-B08D-54B0-73C8DDC8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5A"/>
                </a:solidFill>
              </a:rPr>
              <a:t>Conclusion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1442359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D142E7-B1BC-2A4F-9EAA-FABE8FE2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00005A"/>
                </a:solidFill>
              </a:rPr>
              <a:t>Methodology: Post-Processing &amp; Discovery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C4B9BC-678B-5E77-3AE3-442E0E61F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 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0C1ED90E-F5FF-DFD1-2D52-EC1D9532DB9A}"/>
              </a:ext>
            </a:extLst>
          </p:cNvPr>
          <p:cNvSpPr txBox="1"/>
          <p:nvPr/>
        </p:nvSpPr>
        <p:spPr>
          <a:xfrm>
            <a:off x="1238250" y="2116633"/>
            <a:ext cx="10191750" cy="588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00305E"/>
                </a:solidFill>
                <a:latin typeface="Open Sans"/>
              </a:rPr>
              <a:t>Accumulated DFG:</a:t>
            </a:r>
            <a:r>
              <a:rPr lang="en-US" sz="1500" b="0" i="0" u="none" noProof="0" dirty="0">
                <a:solidFill>
                  <a:srgbClr val="374151"/>
                </a:solidFill>
                <a:latin typeface="Open Sans"/>
              </a:rPr>
              <a:t> By adding noisy DFG snapshots to a running sum, the zero-mean Laplace noise partially cancels out over extended horizons, hopefully revealing general underlying process trends.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A51C2763-58B2-A706-7855-632F12D253F1}"/>
              </a:ext>
            </a:extLst>
          </p:cNvPr>
          <p:cNvSpPr txBox="1"/>
          <p:nvPr/>
        </p:nvSpPr>
        <p:spPr>
          <a:xfrm>
            <a:off x="1238250" y="3347144"/>
            <a:ext cx="10191750" cy="588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00305E"/>
                </a:solidFill>
                <a:latin typeface="Open Sans"/>
              </a:rPr>
              <a:t>Start-Activity Filtering:</a:t>
            </a:r>
            <a:r>
              <a:rPr lang="en-US" sz="1500" b="0" i="0" u="none" noProof="0" dirty="0">
                <a:solidFill>
                  <a:srgbClr val="374151"/>
                </a:solidFill>
                <a:latin typeface="Open Sans"/>
              </a:rPr>
              <a:t> Trace truncation and window boundaries sever initial events, causing false start points. We use a heuristic threshold (inspired by the infrequent miner [17]) to filter out these noisy artifacts.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85C675A4-0340-E0B2-676D-3E59D1F5933F}"/>
              </a:ext>
            </a:extLst>
          </p:cNvPr>
          <p:cNvSpPr txBox="1"/>
          <p:nvPr/>
        </p:nvSpPr>
        <p:spPr>
          <a:xfrm>
            <a:off x="1238250" y="4577655"/>
            <a:ext cx="1019175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noProof="0" dirty="0">
                <a:solidFill>
                  <a:srgbClr val="00305E"/>
                </a:solidFill>
                <a:latin typeface="Open Sans"/>
              </a:rPr>
              <a:t>Flow Correction</a:t>
            </a:r>
            <a:r>
              <a:rPr lang="en-US" sz="1500" b="0" i="0" u="none" noProof="0" dirty="0">
                <a:solidFill>
                  <a:srgbClr val="374151"/>
                </a:solidFill>
                <a:latin typeface="Open Sans"/>
              </a:rPr>
              <a:t> Noise fundamentally destroys the logical flow of the graph. We execute a strict flow-conservation convex optimization algorithm to repair the structural utility.</a:t>
            </a:r>
          </a:p>
        </p:txBody>
      </p:sp>
      <p:pic>
        <p:nvPicPr>
          <p:cNvPr id="11" name="Picture 5" descr="image.png">
            <a:extLst>
              <a:ext uri="{FF2B5EF4-FFF2-40B4-BE49-F238E27FC236}">
                <a16:creationId xmlns:a16="http://schemas.microsoft.com/office/drawing/2014/main" id="{32CB938F-4B7E-7D51-1FBA-A772C2F20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30921"/>
            <a:ext cx="304800" cy="276225"/>
          </a:xfrm>
          <a:prstGeom prst="rect">
            <a:avLst/>
          </a:prstGeom>
        </p:spPr>
      </p:pic>
      <p:pic>
        <p:nvPicPr>
          <p:cNvPr id="13" name="Picture 6" descr="image.png">
            <a:extLst>
              <a:ext uri="{FF2B5EF4-FFF2-40B4-BE49-F238E27FC236}">
                <a16:creationId xmlns:a16="http://schemas.microsoft.com/office/drawing/2014/main" id="{AB51A6E9-D7D7-898A-665A-1B5596841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61432"/>
            <a:ext cx="266700" cy="276225"/>
          </a:xfrm>
          <a:prstGeom prst="rect">
            <a:avLst/>
          </a:prstGeom>
        </p:spPr>
      </p:pic>
      <p:pic>
        <p:nvPicPr>
          <p:cNvPr id="15" name="Picture 7" descr="image.png">
            <a:extLst>
              <a:ext uri="{FF2B5EF4-FFF2-40B4-BE49-F238E27FC236}">
                <a16:creationId xmlns:a16="http://schemas.microsoft.com/office/drawing/2014/main" id="{F924F1E1-853A-6F1F-2320-D08162A26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91942"/>
            <a:ext cx="304800" cy="276225"/>
          </a:xfrm>
          <a:prstGeom prst="rect">
            <a:avLst/>
          </a:prstGeom>
        </p:spPr>
      </p:pic>
      <p:pic>
        <p:nvPicPr>
          <p:cNvPr id="17" name="Picture 8" descr="image.png">
            <a:extLst>
              <a:ext uri="{FF2B5EF4-FFF2-40B4-BE49-F238E27FC236}">
                <a16:creationId xmlns:a16="http://schemas.microsoft.com/office/drawing/2014/main" id="{2F491FBE-D4B2-84A1-5096-F7B81F5A1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5303341"/>
            <a:ext cx="1696194" cy="24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71753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4" id="{C62B1945-B232-4D8E-83C4-1C28F4DDAD5B}" vid="{32C1D9BE-417C-408C-A28B-CED54DF0D5EE}"/>
    </a:ext>
  </a:extLst>
</a:theme>
</file>

<file path=ppt/theme/theme2.xml><?xml version="1.0" encoding="utf-8"?>
<a:theme xmlns:a="http://schemas.openxmlformats.org/drawingml/2006/main" name="Seiten mit Shape variabel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4" id="{C62B1945-B232-4D8E-83C4-1C28F4DDAD5B}" vid="{909DA9C9-A2EB-4BB3-951B-D893662D66AB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251202_TUD_Präsentationsvorlage_DE_16zu9_leer</Template>
  <TotalTime>0</TotalTime>
  <Words>3471</Words>
  <Application>Microsoft Office PowerPoint</Application>
  <PresentationFormat>Breitbild</PresentationFormat>
  <Paragraphs>323</Paragraphs>
  <Slides>42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42</vt:i4>
      </vt:variant>
    </vt:vector>
  </HeadingPairs>
  <TitlesOfParts>
    <vt:vector size="55" baseType="lpstr">
      <vt:lpstr>Arial</vt:lpstr>
      <vt:lpstr>Calibri</vt:lpstr>
      <vt:lpstr>Cambria Math</vt:lpstr>
      <vt:lpstr>Lato</vt:lpstr>
      <vt:lpstr>Noto Sans</vt:lpstr>
      <vt:lpstr>Noto Sans Medium</vt:lpstr>
      <vt:lpstr>Noto Serif</vt:lpstr>
      <vt:lpstr>Noto Serif Light</vt:lpstr>
      <vt:lpstr>Open Sans</vt:lpstr>
      <vt:lpstr>Symbol</vt:lpstr>
      <vt:lpstr>Wingdings</vt:lpstr>
      <vt:lpstr>TUD Standard_20 pt</vt:lpstr>
      <vt:lpstr>Seiten mit Shape variabel</vt:lpstr>
      <vt:lpstr>Privacy-Preserving Continuous Process Discovery</vt:lpstr>
      <vt:lpstr>Agenda</vt:lpstr>
      <vt:lpstr>Motivation</vt:lpstr>
      <vt:lpstr>Motivation: Research &amp; Enterprise</vt:lpstr>
      <vt:lpstr>Background</vt:lpstr>
      <vt:lpstr>Background: Events</vt:lpstr>
      <vt:lpstr>Background: Event Log and Event Stream</vt:lpstr>
      <vt:lpstr>Background: Process Discovery &amp; DFGs</vt:lpstr>
      <vt:lpstr>Background: Differential Privacy (DP)</vt:lpstr>
      <vt:lpstr>Background: DP Theorems</vt:lpstr>
      <vt:lpstr>Background: Privacy Levels [12]</vt:lpstr>
      <vt:lpstr>Methodology</vt:lpstr>
      <vt:lpstr>Methodology: Primary Research Goals </vt:lpstr>
      <vt:lpstr>Pipeline</vt:lpstr>
      <vt:lpstr>Pipeline: Sliding Window &amp; Bloom Filter Gating</vt:lpstr>
      <vt:lpstr>Methodology: Sensitivity Bounding  </vt:lpstr>
      <vt:lpstr>Methodology: Noise &amp; Dynamic Budget </vt:lpstr>
      <vt:lpstr> </vt:lpstr>
      <vt:lpstr>Pipeline</vt:lpstr>
      <vt:lpstr>Experimental Setup</vt:lpstr>
      <vt:lpstr>Experimental Setup</vt:lpstr>
      <vt:lpstr>Results </vt:lpstr>
      <vt:lpstr> Windowed DP – F1 scores over Stream Progress; TB mode</vt:lpstr>
      <vt:lpstr>PowerPoint-Präsentation</vt:lpstr>
      <vt:lpstr>  </vt:lpstr>
      <vt:lpstr>Evaluation Results: Time Based Mode</vt:lpstr>
      <vt:lpstr>Conclusion</vt:lpstr>
      <vt:lpstr>Conclusion</vt:lpstr>
      <vt:lpstr>References</vt:lpstr>
      <vt:lpstr>References</vt:lpstr>
      <vt:lpstr>Figure Reference</vt:lpstr>
      <vt:lpstr>Questions?</vt:lpstr>
      <vt:lpstr>Budget Decay and MRE; TB</vt:lpstr>
      <vt:lpstr>  Windowed DP – F1 scores over Stream progress; ECB mode </vt:lpstr>
      <vt:lpstr>Accumulated DFG with SA-Filtering over Stream Progress; ECB</vt:lpstr>
      <vt:lpstr>Budget Decay and MRE; ECB</vt:lpstr>
      <vt:lpstr> </vt:lpstr>
      <vt:lpstr>Implementation &amp; Setups</vt:lpstr>
      <vt:lpstr>Evaluation Results: Guidelines </vt:lpstr>
      <vt:lpstr>Evaluation Results: Publishing Modes </vt:lpstr>
      <vt:lpstr>Conclusion &amp; Future Work</vt:lpstr>
      <vt:lpstr>Methodology: Post-Processing &amp; Discovery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Sandkuhl</dc:creator>
  <cp:lastModifiedBy>Fabian Sandkuhl</cp:lastModifiedBy>
  <cp:revision>23</cp:revision>
  <cp:lastPrinted>2026-08-08T18:10:33Z</cp:lastPrinted>
  <dcterms:created xsi:type="dcterms:W3CDTF">2026-08-05T11:35:40Z</dcterms:created>
  <dcterms:modified xsi:type="dcterms:W3CDTF">2026-08-11T11:04:16Z</dcterms:modified>
</cp:coreProperties>
</file>